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notesMasterIdLst>
    <p:notesMasterId r:id="rId49"/>
  </p:notesMasterIdLst>
  <p:handoutMasterIdLst>
    <p:handoutMasterId r:id="rId50"/>
  </p:handoutMasterIdLst>
  <p:sldIdLst>
    <p:sldId id="256" r:id="rId2"/>
    <p:sldId id="257" r:id="rId3"/>
    <p:sldId id="277" r:id="rId4"/>
    <p:sldId id="259" r:id="rId5"/>
    <p:sldId id="282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267" r:id="rId21"/>
    <p:sldId id="260" r:id="rId22"/>
    <p:sldId id="269" r:id="rId23"/>
    <p:sldId id="293" r:id="rId24"/>
    <p:sldId id="268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5" r:id="rId36"/>
    <p:sldId id="315" r:id="rId37"/>
    <p:sldId id="316" r:id="rId38"/>
    <p:sldId id="317" r:id="rId39"/>
    <p:sldId id="318" r:id="rId40"/>
    <p:sldId id="297" r:id="rId41"/>
    <p:sldId id="323" r:id="rId42"/>
    <p:sldId id="298" r:id="rId43"/>
    <p:sldId id="322" r:id="rId44"/>
    <p:sldId id="296" r:id="rId45"/>
    <p:sldId id="278" r:id="rId46"/>
    <p:sldId id="279" r:id="rId47"/>
    <p:sldId id="265" r:id="rId48"/>
    <p:sldId id="324" r:id="rId61"/>
  </p:sldIdLst>
  <p:sldSz cx="18288000" cy="10287000"/>
  <p:notesSz cx="6858000" cy="9144000"/>
  <p:embeddedFontLst>
    <p:embeddedFont>
      <p:font typeface="Abril Fatface" panose="02000503000000020003" pitchFamily="2" charset="0"/>
      <p:regular r:id="rId51"/>
    </p:embeddedFont>
    <p:embeddedFont>
      <p:font typeface="Merriweather" pitchFamily="2" charset="0"/>
      <p:regular r:id="rId52"/>
      <p:bold r:id="rId53"/>
      <p:italic r:id="rId54"/>
      <p:boldItalic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12" autoAdjust="0"/>
    <p:restoredTop sz="94622" autoAdjust="0"/>
  </p:normalViewPr>
  <p:slideViewPr>
    <p:cSldViewPr>
      <p:cViewPr>
        <p:scale>
          <a:sx n="56" d="100"/>
          <a:sy n="56" d="100"/>
        </p:scale>
        <p:origin x="173" y="-1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handoutMaster" Target="handoutMasters/handoutMaster1.xml"/><Relationship Id="rId51" Type="http://schemas.openxmlformats.org/officeDocument/2006/relationships/font" Target="fonts/font1.fntdata"/><Relationship Id="rId52" Type="http://schemas.openxmlformats.org/officeDocument/2006/relationships/font" Target="fonts/font2.fntdata"/><Relationship Id="rId53" Type="http://schemas.openxmlformats.org/officeDocument/2006/relationships/font" Target="fonts/font3.fntdata"/><Relationship Id="rId54" Type="http://schemas.openxmlformats.org/officeDocument/2006/relationships/font" Target="fonts/font4.fntdata"/><Relationship Id="rId55" Type="http://schemas.openxmlformats.org/officeDocument/2006/relationships/font" Target="fonts/font5.fnt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slide" Target="slides/slide48.xml"/><Relationship Id="rId61" Type="http://schemas.openxmlformats.org/officeDocument/2006/relationships/slide" Target="slides/slide4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800C1A-9940-432B-4583-0F716FE3D8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133E2-1DCA-E54E-6173-77662C582C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9E63D-A9C1-466C-8FDC-E8C0ECD1ACDB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2199D-032A-856F-931E-C9B0DB3C1E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0436E-9ECE-7C1B-3E0C-349C58DD28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ECB77-9046-448B-8035-09EE5416E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4005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EF6FF-0A45-4D72-8C5B-583DBB8BD78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43CB2-1804-4822-B277-8D7FB49C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4604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43CB2-1804-4822-B277-8D7FB49C900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0000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9420-4DF5-8048-DFC4-F7BE4E29D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032F5-234A-A05E-C8D2-1B89459F8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DBAD6-3A54-419A-B732-979DEAE2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EB65-9DC0-4FA9-8334-F997BF3FEC8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2C26F-8E98-4BFD-ACFB-BC871EDC9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6BC1A-717C-88DE-5FC7-C07D0D74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68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F3A6-DAEE-623C-7941-6BD819E23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F2DB0-9752-CCF4-C3EF-5F148BB1E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2D69C-ED26-80F0-A10B-9C3A43EDD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1AED-3C77-48F6-8BDD-A91A84BD3E4C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DF0A9-FC40-B3BB-6745-CAFC2F0BA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6BAB-3B20-D9A6-4403-C5954D1D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26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868D-6DFA-BAE3-0DA6-0BC36F47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E88EE-673B-18A9-DC14-B40F2F9CA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39834-F1F5-409F-7DE7-233E8AD0F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2079-84B7-4588-B549-1E31B3E00C0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5FFAD-55E6-3FF7-CDF1-06E384D1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A5324-A337-6383-2A13-D8D3E06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6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7A98-7588-3A12-FFD7-B3D596206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6A62-E7D8-8749-1E93-452D64C76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7C118-A7E1-9CBA-EC77-6D0125429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039AF-82B1-39E3-7148-C49E3BA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17F3-4E60-449D-A987-6EE286271B1C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ED7D3-F85B-1BDE-BE4B-6EC4C0444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9AB7-216A-4CA0-59D4-C55D2E67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6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3E6B-24BE-87CB-E0C1-59FF5FAE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0AF3F-8BAB-A821-84DE-4C0AD29B6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AB38E-C107-F8EE-1627-EE7B878CE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93854-844E-3130-EC00-3EC0D4DBC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DA0DF-0F55-B0F3-452C-BC4C06831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1B3394-4889-2A98-C670-A8E64860F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19BA-6636-4537-84E6-3D0429E50EA0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23B5F-A74E-E71F-C992-9BD5D19D6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D36EC-536C-424A-8B6E-1F8BFBEC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4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683C2-4E8B-7706-5C51-5044C65A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5B2121-0EDE-21F7-AA11-5C5EBF10C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1CDE-B8FE-4DA6-91F2-678668A467D1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4E089-33AC-CE21-7336-5A448DCA9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27DEC-FF61-89C7-E8B9-953AF5CE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00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2D77C-9590-F220-B6DD-60060209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A836F-499B-4A01-B262-238E71FD469C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6D72F-FF39-B818-F563-64476B31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8A567-BA21-EFD0-39E4-D99C06F46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19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4475-7B4C-CED8-EB6F-116014E5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7EDDA-3485-120E-B6A3-648D10749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2F8DB-6BDA-39EC-894F-80341DC03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6BAED-476A-EF30-CC08-4BB582B4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037F7-0A14-4BAB-993C-4A0581C675A0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BB9CD-3079-CC9D-AC27-0DA074FA9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72F6B-0A1A-B360-512B-04F81F7F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8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76CB-A9E4-3E7A-0294-D9D3E7DA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71466A-2D85-4D76-D950-E04BD88C93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7F5EA-23F1-3724-7C6F-BAE013677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A7D93-F7EF-6C41-4136-3CA8817F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0AE-CA37-4738-9459-CBE4568D184D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78750-10FC-E496-8CC2-982CB06C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8B586-7480-724C-583C-575FB0AC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6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505F-1A32-F075-EE24-441E1A2E3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EDCA1-74F8-B2BE-95A2-3DC884E5F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A43BB-C2B0-AEFC-FAB8-D2755B510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093B-91CB-4EC9-AC41-ADF1E972B06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39A9-2DE0-503D-20CB-FA4D90683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79F1D-E2A9-1A3B-346A-134104A6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53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12B85-D553-3B72-C64C-3DBE8D181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A219D-C856-8820-838B-70B8CDF0A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AFE27-B70B-5209-5675-120C3068C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86B5-EC8C-4F04-884E-36ADB940920B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32F90-C437-BDBE-A1A9-AE4A6FCFE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8E8D2-D340-956E-AFDC-A1921E74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60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CEE0DB-64D5-A058-0620-86180779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284DC-A0A4-DC6A-130D-AF574BE55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2AC4-8050-6B4B-A867-B4D5FDC64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CE11D-F6B3-4184-8D65-B615BACF0E22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21140-2580-CAD8-D31B-DF521D4AF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B3F67-C689-6C6C-4E2C-37D80CD48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17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1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3" Type="http://schemas.openxmlformats.org/officeDocument/2006/relationships/image" Target="../media/image11.svg"/><Relationship Id="rId4" Type="http://schemas.openxmlformats.org/officeDocument/2006/relationships/image" Target="../media/image3.sv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B66F583-B4E0-CED4-5D95-67B1A145A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65" y="928655"/>
            <a:ext cx="16541596" cy="8565177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5" name="Freeform 5"/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TextBox 6"/>
          <p:cNvSpPr txBox="1"/>
          <p:nvPr/>
        </p:nvSpPr>
        <p:spPr>
          <a:xfrm>
            <a:off x="4501578" y="2643191"/>
            <a:ext cx="10231834" cy="307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9"/>
              </a:lnSpc>
            </a:pPr>
            <a:r>
              <a:rPr lang="en-US" sz="4378" dirty="0">
                <a:solidFill>
                  <a:schemeClr val="tx1">
                    <a:lumMod val="95000"/>
                    <a:lumOff val="5000"/>
                  </a:schemeClr>
                </a:solidFill>
                <a:latin typeface="Abril Fatface"/>
                <a:ea typeface="Abril Fatface"/>
                <a:cs typeface="Abril Fatface"/>
                <a:sym typeface="Abril Fatface"/>
              </a:rPr>
              <a:t>AUTONAS</a:t>
            </a:r>
          </a:p>
          <a:p>
            <a:pPr algn="ctr">
              <a:lnSpc>
                <a:spcPts val="6129"/>
              </a:lnSpc>
              <a:spcBef>
                <a:spcPct val="0"/>
              </a:spcBef>
            </a:pPr>
            <a:r>
              <a:rPr lang="en-US" sz="4378" dirty="0">
                <a:solidFill>
                  <a:schemeClr val="tx1">
                    <a:lumMod val="95000"/>
                    <a:lumOff val="5000"/>
                  </a:schemeClr>
                </a:solidFill>
                <a:latin typeface="Abril Fatface"/>
                <a:ea typeface="Abril Fatface"/>
                <a:cs typeface="Abril Fatface"/>
                <a:sym typeface="Abril Fatface"/>
              </a:rPr>
              <a:t>A NEURAL ARCHITECTURE SEARCH–BASED MODEL SELECTION SYSTEM</a:t>
            </a:r>
          </a:p>
          <a:p>
            <a:pPr algn="ctr">
              <a:lnSpc>
                <a:spcPts val="6129"/>
              </a:lnSpc>
              <a:spcBef>
                <a:spcPct val="0"/>
              </a:spcBef>
            </a:pPr>
            <a:r>
              <a:rPr lang="en-US" sz="4378" dirty="0">
                <a:solidFill>
                  <a:schemeClr val="tx1">
                    <a:lumMod val="95000"/>
                    <a:lumOff val="5000"/>
                  </a:schemeClr>
                </a:solidFill>
                <a:latin typeface="Abril Fatface"/>
                <a:ea typeface="Abril Fatface"/>
                <a:cs typeface="Abril Fatface"/>
                <a:sym typeface="Abril Fatface"/>
              </a:rPr>
              <a:t>FOR HEART DISEASE PREDICTION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49383" y="7108545"/>
            <a:ext cx="4368057" cy="2359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Submitted by :</a:t>
            </a:r>
          </a:p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Nanditha S</a:t>
            </a:r>
          </a:p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LBT25CSCE03</a:t>
            </a:r>
          </a:p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M2 CSE</a:t>
            </a:r>
          </a:p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</a:t>
            </a:r>
          </a:p>
          <a:p>
            <a:pPr algn="ctr">
              <a:lnSpc>
                <a:spcPts val="3067"/>
              </a:lnSpc>
              <a:spcBef>
                <a:spcPct val="0"/>
              </a:spcBef>
            </a:pPr>
            <a:endParaRPr lang="en-US" sz="2191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67981" y="7271968"/>
            <a:ext cx="3556419" cy="11664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Guided by:</a:t>
            </a:r>
          </a:p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Dr. Smitha E S</a:t>
            </a:r>
          </a:p>
          <a:p>
            <a:pPr algn="ctr">
              <a:lnSpc>
                <a:spcPts val="3067"/>
              </a:lnSpc>
              <a:spcBef>
                <a:spcPct val="0"/>
              </a:spcBef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Prof. Janisha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Freeform 7"/>
          <p:cNvSpPr/>
          <p:nvPr/>
        </p:nvSpPr>
        <p:spPr>
          <a:xfrm rot="-10800000">
            <a:off x="444842" y="8000492"/>
            <a:ext cx="1794663" cy="1976873"/>
          </a:xfrm>
          <a:custGeom>
            <a:avLst/>
            <a:gdLst/>
            <a:ahLst/>
            <a:cxnLst/>
            <a:rect l="l" t="t" r="r" b="b"/>
            <a:pathLst>
              <a:path w="2504321" h="2477001">
                <a:moveTo>
                  <a:pt x="0" y="0"/>
                </a:moveTo>
                <a:lnTo>
                  <a:pt x="2504321" y="0"/>
                </a:lnTo>
                <a:lnTo>
                  <a:pt x="2504321" y="2477001"/>
                </a:lnTo>
                <a:lnTo>
                  <a:pt x="0" y="24770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3657600" y="495300"/>
            <a:ext cx="11506200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TABLE OF CONTENTS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34200" y="2324100"/>
            <a:ext cx="4953000" cy="8563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MOTIVATION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LITERATURE REVIEW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GAPS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TECHNOLOGY USED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INTERIM RESULTS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PLAN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EEC01-5845-9A3E-97A9-5965995CE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35F5E7B-F2BA-A112-72B3-BC3D2A4210FB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1D24143-893C-EA51-31E4-078EA0C1740A}"/>
              </a:ext>
            </a:extLst>
          </p:cNvPr>
          <p:cNvSpPr/>
          <p:nvPr/>
        </p:nvSpPr>
        <p:spPr>
          <a:xfrm rot="-10800000">
            <a:off x="444842" y="8000492"/>
            <a:ext cx="1794663" cy="1976873"/>
          </a:xfrm>
          <a:custGeom>
            <a:avLst/>
            <a:gdLst/>
            <a:ahLst/>
            <a:cxnLst/>
            <a:rect l="l" t="t" r="r" b="b"/>
            <a:pathLst>
              <a:path w="2504321" h="2477001">
                <a:moveTo>
                  <a:pt x="0" y="0"/>
                </a:moveTo>
                <a:lnTo>
                  <a:pt x="2504321" y="0"/>
                </a:lnTo>
                <a:lnTo>
                  <a:pt x="2504321" y="2477001"/>
                </a:lnTo>
                <a:lnTo>
                  <a:pt x="0" y="24770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0CC24ED-59A3-F964-B47A-D673B223441E}"/>
              </a:ext>
            </a:extLst>
          </p:cNvPr>
          <p:cNvSpPr txBox="1"/>
          <p:nvPr/>
        </p:nvSpPr>
        <p:spPr>
          <a:xfrm>
            <a:off x="3657600" y="49530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INTRODUCTION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57D35C3-748D-350E-4E00-347B2E6243B8}"/>
              </a:ext>
            </a:extLst>
          </p:cNvPr>
          <p:cNvSpPr txBox="1"/>
          <p:nvPr/>
        </p:nvSpPr>
        <p:spPr>
          <a:xfrm>
            <a:off x="2590800" y="2324100"/>
            <a:ext cx="13487400" cy="4793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Heart disease is a leading cause of death; early detection saves lives.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Coronary Artery Disease (CAD) is caused by blocked or narrowed heart vessels.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Traditional tests (ECG, blood test, angiography) require expert analysis.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These methods may miss complex patterns in data.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helps analyze large medical datasets efficiently.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models need manual design and tuning.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 captures complex patterns but is hard to design.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Architecture Search (NAS) automatically builds optimized models with better accuracy.</a:t>
            </a:r>
          </a:p>
        </p:txBody>
      </p:sp>
    </p:spTree>
    <p:extLst>
      <p:ext uri="{BB962C8B-B14F-4D97-AF65-F5344CB8AC3E}">
        <p14:creationId xmlns:p14="http://schemas.microsoft.com/office/powerpoint/2010/main" val="1045367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 rot="-5400000">
            <a:off x="-1294784" y="7609770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TextBox 6"/>
          <p:cNvSpPr txBox="1"/>
          <p:nvPr/>
        </p:nvSpPr>
        <p:spPr>
          <a:xfrm>
            <a:off x="3581400" y="659437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MOTIVATION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31620" y="2628900"/>
            <a:ext cx="14326541" cy="395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Heart disease prediction helps doctors make faster and reliable decisions.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Traditional methods depend on doctor experience and manual analysis.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These methods may not always give accurate or consistent results.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improves prediction but needs manual feature selection and tuning.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Different models give different results and may not be optimal.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 performs better but is complex and time-consuming to design.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Architecture Search (NAS) automatically finds the best model.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NAS provides higher accuracy, less effort, and better performance for medical data</a:t>
            </a: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3A3CCE8C-F66B-2743-31F0-486D9131BFFC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358050"/>
              </p:ext>
            </p:extLst>
          </p:nvPr>
        </p:nvGraphicFramePr>
        <p:xfrm>
          <a:off x="914400" y="1866900"/>
          <a:ext cx="16459200" cy="8087614"/>
        </p:xfrm>
        <a:graphic>
          <a:graphicData uri="http://schemas.openxmlformats.org/drawingml/2006/table">
            <a:tbl>
              <a:tblPr/>
              <a:tblGrid>
                <a:gridCol w="5587999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51308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40401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4343400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International Application of a New Probability Algorithm for the Diagnosis of Coronary Artery Disease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R. Detrano et al.  Date: 1989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American Journal of Cardiology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Early computer-based diagnostic system for CAD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Probability-based algorithm using clinical parameters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Parameters: age, sex, chest pain, BP, cholesterol, ECG, heart rate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Introduced the Cleveland Heart Disease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Simple and interpretable statistical model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Introduced the standard Cleveland benchmark dataset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Widely reproducible across clinical sites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068536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Cleveland Heart Disease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Uses statistical probability only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Cannot learn complex nonlinear feature relationships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Limited predictive 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256505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Moderate accuracy (~77%) on Cleveland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131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669196"/>
              </p:ext>
            </p:extLst>
          </p:nvPr>
        </p:nvGraphicFramePr>
        <p:xfrm>
          <a:off x="878731" y="1685703"/>
          <a:ext cx="16530537" cy="8359521"/>
        </p:xfrm>
        <a:graphic>
          <a:graphicData uri="http://schemas.openxmlformats.org/drawingml/2006/table">
            <a:tbl>
              <a:tblPr/>
              <a:tblGrid>
                <a:gridCol w="5510179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5510179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510179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783974">
                <a:tc rowSpan="3"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2"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DARTS: Differentiable Architecture Search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AUTHOR: H. Liu, K. Simonyan, Y. Yang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YEAR: 2019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SOURCE: ICLR 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ABSTRACT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Proposes differentiable architecture search (DARTS) by relaxing the search space to be continuous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Uses gradient descent instead of RL or evolution for architecture optimization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Achieves competitive results with orders of magnitude less computation than prior NAS methods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Search cost reduced to a few GPU-days instead of thousands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Dramatically reduces NAS computational cost (1.5 GPU-days vs 2000+)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Elegant continuous relaxation of discrete search space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Gradient-based optimization is well-understood and efficient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Achieves 2.76% test error on CIFAR-10, competitive with state-of-the-art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419731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Datasets Used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CIFAR-10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ImageNet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Penn Treebank (language modeling)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DISADVANTAGES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Prone to collapse — may converge to skip connections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Continuous relaxation can introduce a discretization gap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Memory-intensive during search (full supernet in memory)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Architecture found may not transfer well across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055488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Final Result / Accuracy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CIFAR-10: 2.76% test error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ImageNet: 26.7% top-1 error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PTB: 55.7 perplexity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Search cost: 1.5 GPU-days on CIFAR-10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069393"/>
              </p:ext>
            </p:extLst>
          </p:nvPr>
        </p:nvGraphicFramePr>
        <p:xfrm>
          <a:off x="914400" y="1866900"/>
          <a:ext cx="16459200" cy="7992914"/>
        </p:xfrm>
        <a:graphic>
          <a:graphicData uri="http://schemas.openxmlformats.org/drawingml/2006/table">
            <a:tbl>
              <a:tblPr/>
              <a:tblGrid>
                <a:gridCol w="5218749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5449251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408042">
                <a:tc rowSpan="3"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3"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Heart Disease Prediction Using Machine Learning Techniques: A Survey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AUTHOR: V. V. Ramalingam, A. Dandapath, M. K. Raja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YEAR: 2018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SOURCE: Int. J. Eng. Technol., vol. 7, no. 2.8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ABSTRACT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Comprehensive survey of ML techniques for heart disease prediction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Reviews SVM, KNN, Naïve Bayes, Decision Tree, Random Forest, and ANN approaches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Compares performance of different classifiers on Cleveland heart disease dataset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Identifies key challenges and future directions in cardiac diagnosis using 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Thorough comparison of multiple ML algorithms for heart disease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Provides performance benchmarks on standard datasets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Identifies that ensemble methods often outperform single classifiers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Useful survey for understanding the landscape of heart disease ML research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090293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Datasets Used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Cleveland Heart Disease Dataset (UCI)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Statlog Heart Disease Dataset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Various published results surveyed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DISADVANTAGES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Survey only — no novel method proposed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Does not cover deep learning or NAS-based approaches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Limited to traditional ML algorithms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Some referenced studies use small datasets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505500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Final Result / Accuracy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Reports best accuracies from surveyed papers: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  - Random Forest: up to 90%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  - SVM: up to 86%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  - Naïve Bayes: up to 87%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964587"/>
              </p:ext>
            </p:extLst>
          </p:nvPr>
        </p:nvGraphicFramePr>
        <p:xfrm>
          <a:off x="762000" y="1790700"/>
          <a:ext cx="16764000" cy="8361442"/>
        </p:xfrm>
        <a:graphic>
          <a:graphicData uri="http://schemas.openxmlformats.org/drawingml/2006/table">
            <a:tbl>
              <a:tblPr/>
              <a:tblGrid>
                <a:gridCol w="44958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5867401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6400799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308756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4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Neural Architecture Search with Reinforcement Learning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Barret Zoph, Quoc V. Le  Date: 2017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ICLR 2017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Introduced Neural Architecture Search (NAS) using RL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 controller RNN generates and evaluates architectures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Best architecture selected automatically by the system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NAS-designed models outperform manually designed networks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Fully automatic neural network architecture generation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Demonstrated superior performance over manual design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Generalizes to language modeling and image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290898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CIFAR-10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Penn Treebank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Extremely high computational cost (thousands of GPU hours)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Not practical for small or resource-limited projects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Primarily validated on CIFAR-10 and language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959628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~97.1% accuracy on CIFAR-10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454670"/>
              </p:ext>
            </p:extLst>
          </p:nvPr>
        </p:nvGraphicFramePr>
        <p:xfrm>
          <a:off x="685800" y="1685703"/>
          <a:ext cx="16764000" cy="8359521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4015326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5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Neural Architecture Search: A Survey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Thomas Elsken, Jan Hendrik Metzen, Frank Hutter  Date: 2019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Journal of Machine Learning Research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Comprehensive survey covering all major NAS components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Three key components: Search Space, Search Strategy, Performance Evaluation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NAS useful when optimal architecture is unknown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Reviews random, evolutionary, RL, and gradient-based NAS 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Comprehensive overview of all NAS methods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Identifies best strategies for different problem types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Directly applicable to medical prediction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65032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Various benchmark datasets (CIFAR-10, ImageNet)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Survey paper only – no new algorithm proposed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NAS methods reviewed are still computationally expensive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Limited focus on healthcare applications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345760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N/A – Survey paper; summarizes state-of-the-art NAS results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473429"/>
              </p:ext>
            </p:extLst>
          </p:nvPr>
        </p:nvGraphicFramePr>
        <p:xfrm>
          <a:off x="838200" y="1704838"/>
          <a:ext cx="16916400" cy="8359521"/>
        </p:xfrm>
        <a:graphic>
          <a:graphicData uri="http://schemas.openxmlformats.org/drawingml/2006/table">
            <a:tbl>
              <a:tblPr/>
              <a:tblGrid>
                <a:gridCol w="47244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69850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471904">
                <a:tc rowSpan="3"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6"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TabNet: Attentive Interpretable Tabular Learning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AUTHOR: S. Ö. Arık, T. Pfister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YEAR: 2021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SOURCE: AAAI 2021 / arXiv:1908.07442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ABSTRACT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Proposes TabNet, a deep learning architecture specifically designed for tabular data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Uses sequential attention to select relevant features at each decision step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Provides instance-wise feature selection, offering interpretability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Outperforms or matches tree-based methods on multiple tabular benchmarks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Specifically designed for tabular data — directly relevant to clinical datasets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Built-in interpretability through attention-based feature selection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Supports self-supervised pre-training for limited labeled data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Outperforms XGBoost/LightGBM on several benchmarks without feature engineering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708405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Datasets Used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Forest Cover Type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Poker Hand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Sarcos (regression)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Higgs Boson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Multiple UCI tabular datasets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DISADVANTAGES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Requires careful hyperparameter tuning (learning rate, sparsity coefficient)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Training is slower than gradient-boosted trees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Not specifically tested on medical/heart disease data in original paper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Architecture is manually designed, not automatically searched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181408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Final Result / Accuracy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Forest Cover Type: 96.99% (vs 96.35% XGBoost)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Outperforms or matches GBDT on 6/6 datasets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Provides interpretable feature importance masks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18890"/>
              </p:ext>
            </p:extLst>
          </p:nvPr>
        </p:nvGraphicFramePr>
        <p:xfrm>
          <a:off x="647699" y="1685703"/>
          <a:ext cx="16992601" cy="840803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6511484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6366317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749421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7"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AutoML: A Survey of the State-of-the-Art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AUTHOR: X. He, K. Zhao, X. Chu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YEAR: 2021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SOURCE: Knowl.-Based Syst., vol. 212 / arXiv:1908.00709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ABSTRACT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Comprehensive survey covering the full AutoML pipeline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Covers data preparation, feature engineering, hyperparameter optimization, and NAS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Reviews one-shot NAS, differentiable NAS, and resource-aware NAS methods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Discusses open problems and future directions in automated machine 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Most complete survey of AutoML covering all pipeline stages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Detailed comparison of NAS algorithms on CIFAR-10 and ImageNet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Covers both architecture search and hyperparameter optimization jointly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Discusses practical resource-aware and hardware-aware NAS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71469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Datasets Used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Survey paper reviewing results on: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  - CIFAR-10, CIFAR-100, ImageNet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  - Penn Treebank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  - Various tabular and medical datasets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DISADVANTAGES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Survey only — does not propose a new method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Primarily focused on image and NLP tasks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Limited coverage of AutoML for healthcare-specific applications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Published 2021; newer methods not included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378445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Final Result / Accuracy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Summarizes NAS SOTA: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  - CIFAR-10 best: 2.13% error (NASNet)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  - ImageNet best: 23.0% top-1 error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  - Notes trend toward efficient search (&lt;1 GPU-day)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552413"/>
              </p:ext>
            </p:extLst>
          </p:nvPr>
        </p:nvGraphicFramePr>
        <p:xfrm>
          <a:off x="457200" y="1760060"/>
          <a:ext cx="17373600" cy="8359521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4069240">
                <a:tc rowSpan="3"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8"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Comprehensive Evaluation and Performance Analysis of Machine Learning in Heart Disease Prediction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AUTHOR: H. A. Al-Alshaikh et al.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YEAR: 2024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SOURCE: Scientific Reports (Nature), vol. 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ABSTRACT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Proposes a hybrid feature selection model combining genetic algorithm (GA) and recursive feature elimination (RFEM)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Addresses class imbalance using under-sampling clustering oversampling method (USCOM)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Evaluates multiple classifiers: RF, SVM, KNN, LR, DT, XGBoost, AdaBoost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Achieves state-of-the-art results on Cleveland heart disease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Published in Nature Scientific Reports — high-quality peer review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Novel hybrid feature selection (GA + RFEM) improves robustness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Addresses class imbalance — common issue in medical datasets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Comprehensive comparison of 7+ classifiers with statistical tests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181226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Datasets Used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Cleveland Heart Disease Dataset (UCI)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303 instances, 14 attributes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Applied USCOM for class balancing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DISADVANTAGES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Does not explore deep learning or NAS approaches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Feature selection adds computational overhead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Results limited to a single dataset (Cleveland)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Manually designed pipeline — no automation of model selection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26858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Final Result / Accuracy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Random Forest with GA+RFEM: 97.57% accuracy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XGBoost: 96.52%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SVM: 95.65%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Significant improvement over baseline ML models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435507"/>
              </p:ext>
            </p:extLst>
          </p:nvPr>
        </p:nvGraphicFramePr>
        <p:xfrm>
          <a:off x="914400" y="1760060"/>
          <a:ext cx="16916400" cy="8359521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820222">
                <a:tc rowSpan="3"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9"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ProxylessNAS: Direct Neural Architecture Search on Target Task and Hardware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AUTHOR: H. Cai, L. Zhu, S. Han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YEAR: 2019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SOURCE: ICLR 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ABSTRACT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Proposes ProxylessNAS — directly searching architectures on the target task without proxy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Reduces GPU memory by binarizing architecture parameters (path-level pruning)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Supports hardware-aware NAS by incorporating latency into the objective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Makes NAS practical for large-scale tasks like ImageNet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Eliminates the need for proxy tasks — searches directly on target dataset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Memory-efficient through path-level binarization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Hardware-aware: can optimize for specific devices (GPU, CPU, mobile)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Search cost: only 200 GPU-hours on ImageNet (vs 48,000 for NASNet)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730533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Datasets Used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CIFAR-10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ImageNet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Evaluated on GPU, CPU, and mobile hardware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DISADVANTAGES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Binarization introduces noise in gradient estimation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Search space still manually defined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Not tested on tabular/medical datasets in original paper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Requires careful tuning of latency penalty 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299933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Final Result / Accuracy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ImageNet: 75.1% top-1 accuracy (3.1% better than MobileNetV2)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CIFAR-10: 2.08% test error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200 GPU-hours search cost on ImageNet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931166"/>
              </p:ext>
            </p:extLst>
          </p:nvPr>
        </p:nvGraphicFramePr>
        <p:xfrm>
          <a:off x="985733" y="1685703"/>
          <a:ext cx="16764000" cy="8359521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6129233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6062767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4038600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10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Regularized Evolution for Image Classifier Architecture Search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Esteban Real, Alok Aggarwal, Yanping Huang  Date: 2019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AAAI 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Proposed evolutionary algorithm for neural architecture search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Automatically generates and evaluates multiple architectures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Tournament selection with regularization prevents premature convergence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Automatic search outperforms manually designed architectures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Fully automated architecture generation using evolution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Outperforms manually designed networks consistently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Scalable evolutionary approach with regularization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934944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CIFAR-10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ImageNet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Very high computation cost – requires many GPU hours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Primarily designed for image classification tasks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Difficult to directly apply to small tabular medical datasets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926854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~97.6% accuracy on CIFAR-10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552169"/>
              </p:ext>
            </p:extLst>
          </p:nvPr>
        </p:nvGraphicFramePr>
        <p:xfrm>
          <a:off x="609600" y="1685703"/>
          <a:ext cx="16992600" cy="8258397"/>
        </p:xfrm>
        <a:graphic>
          <a:graphicData uri="http://schemas.openxmlformats.org/drawingml/2006/table">
            <a:tbl>
              <a:tblPr/>
              <a:tblGrid>
                <a:gridCol w="37338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8113229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145571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521839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11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Efficient Neural Architecture Search via Parameter Sharing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H. Pham, M. Guan, B. Zoph  Date: 2018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ICML 2018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Proposed ENAS: faster NAS via shared parameters across child models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Reduces training cost by orders of magnitude over original NAS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Parameter sharing makes architecture search practical for real use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Controller learns to search using shared weights efficiently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Dramatically faster than original RL-based NAS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Parameter sharing reduces computation significantly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Practical for real-world architecture search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994343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Penn Treebank (NLP)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CIFAR-10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Shared parameters may not reflect true individual model performance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Complex implementation of the weight-sharing scheme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Additional memory overhead for shared parameter storage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313783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~97.11% accuracy on CIFAR-10 (2.89% error rate)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774578"/>
              </p:ext>
            </p:extLst>
          </p:nvPr>
        </p:nvGraphicFramePr>
        <p:xfrm>
          <a:off x="457200" y="1760060"/>
          <a:ext cx="17373600" cy="80316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79248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764440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12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SNAS: Stochastic Neural Architecture Search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S. Xie, H. Zheng, C. Liu  Date: 2019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ICLR 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Introduced gradient-based differentiable NAS using stochastic sampling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Faster and more efficient than reinforcement learning NAS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Reduces computation cost significantly over RL-based methods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Architecture parameters optimized jointly with network weights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Gradient-based search is much faster than RL or evolutionary NAS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Efficient use of computation through differentiable relaxation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End-to-end differentiable architecture optimization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181226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CIFAR-10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ImageNet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May get stuck in local optima during optimization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Sensitive to hyperparameter settings and learning rates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Potential architecture collapse during 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023493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~97.02% accuracy on CIFAR-10 (2.98% error)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551797"/>
              </p:ext>
            </p:extLst>
          </p:nvPr>
        </p:nvGraphicFramePr>
        <p:xfrm>
          <a:off x="457200" y="1760060"/>
          <a:ext cx="17373600" cy="8359521"/>
        </p:xfrm>
        <a:graphic>
          <a:graphicData uri="http://schemas.openxmlformats.org/drawingml/2006/table">
            <a:tbl>
              <a:tblPr/>
              <a:tblGrid>
                <a:gridCol w="40386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535840">
                <a:tc rowSpan="3"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13"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NAS-Bench-201: Extending the Scope of Reproducible Neural Architecture Search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AUTHOR: X. Dong, Y. Yang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YEAR: 2020</a:t>
                      </a:r>
                    </a:p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SOURCE: ICLR 2020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ABSTRACT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Proposes NAS-Bench-201, a unified benchmark for NAS algorithms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Provides a fixed cell-based search space with 15,625 architectures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Each architecture evaluated on CIFAR-10, CIFAR-100, and ImageNet-16-120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Enables fair comparison of NAS algorithms by eliminating confounding factors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Reproducible benchmark — all architectures pre-evaluated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Enables fair apple-to-apple comparison of NAS methods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Multiple datasets allow testing generalization of search algorithms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Open-source with full training logs and diagnostic information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181226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Datasets Used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CIFAR-10 (15,625 architectures evaluated)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CIFAR-100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ImageNet-16-120 (downsampled ImageNet)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Merriweather"/>
                        </a:rPr>
                        <a:t>DISADVANTAGES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Fixed search space limits exploration of novel operations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Only cell-based architectures — doesn't cover macro search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Not designed for tabular or medical data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Pre-computed results may not reflect real-world search dynamics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26858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>Final Result / Accuracy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Provides ground truth for all 15,625 architectures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Best architecture: 94.37% on CIFAR-10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Reveals that many NAS algorithms find sub-optimal architectures</a:t>
                      </a:r>
                    </a:p>
                    <a:p>
                      <a:r>
                        <a:rPr sz="900">
                          <a:solidFill>
                            <a:srgbClr val="000000"/>
                          </a:solidFill>
                          <a:latin typeface="Merriweather"/>
                        </a:rPr>
                        <a:t>• Random search is a surprisingly strong baseline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Merriweather"/>
                        </a:rPr>
                        <a:t/>
                      </a: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431081"/>
              </p:ext>
            </p:extLst>
          </p:nvPr>
        </p:nvGraphicFramePr>
        <p:xfrm>
          <a:off x="457200" y="1760060"/>
          <a:ext cx="17373600" cy="8359521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76962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688240">
                <a:tc rowSpan="3"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14"/>
                      </a:pPr>
                      <a:r>
                        <a:rPr sz="2000" b="1">
                          <a:latin typeface="Merriweather"/>
                        </a:rPr>
                        <a:t>Prediction of Heart Disease Using Classification Algorithms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/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AUTHOR: H. D. Masethe, M. A. Masethe  Date: 2014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/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SOURCE: Proceedings of the World Congress on Engineering and Computer Science (WCECS)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b="1">
                          <a:latin typeface="Merriweather"/>
                        </a:rPr>
                        <a:t>ABSTRACT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Applied J48 Decision Tree and Bayes Net for heart disease prediction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Compared classification performance on Cleveland dataset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Evaluated accuracy, precision, recall, and F-measure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Demonstrated effectiveness of decision tree for medical diagnosis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b="1">
                          <a:latin typeface="Merriweather"/>
                        </a:rPr>
                        <a:t>ADVANTAGES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Clear comparison of two established classifiers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Detailed performance metrics beyond just accuracy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Reproducible methodology on public dataset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Interpretable decision tree model for clinical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181226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b="1">
                          <a:latin typeface="Merriweather"/>
                        </a:rPr>
                        <a:t>Datasets Used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Cleveland Heart Disease Dataset (UCI)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303 instances, 14 attributes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b="1">
                          <a:latin typeface="Merriweather"/>
                        </a:rPr>
                        <a:t>DISADVANTAGES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Only two classifiers compared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No deep learning or ensemble methods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Single dataset evaluation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No automated model selection or architecture 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26858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b="1">
                          <a:latin typeface="Merriweather"/>
                        </a:rPr>
                        <a:t>Final Result / Accuracy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J48 Decision Tree achieved 78.89% accuracy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Bayes Net achieved 81.11% 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53043"/>
              </p:ext>
            </p:extLst>
          </p:nvPr>
        </p:nvGraphicFramePr>
        <p:xfrm>
          <a:off x="457200" y="1760060"/>
          <a:ext cx="17373600" cy="8359521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80772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612040">
                <a:tc rowSpan="3"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15"/>
                      </a:pPr>
                      <a:r>
                        <a:rPr sz="2000" b="1">
                          <a:latin typeface="Merriweather"/>
                        </a:rPr>
                        <a:t>Association Rule Discovery with the Train and Test Approach for Heart Disease Prediction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/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AUTHOR: C. Ordonez  Date: 2006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/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SOURCE: IEEE Transactions on Information Technology in Biomedicine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b="1">
                          <a:latin typeface="Merriweather"/>
                        </a:rPr>
                        <a:t>ABSTRACT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Proposed association rule mining approach for heart disease prediction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Introduced train-and-test methodology for rule validation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Reduced number of rules while maintaining predictive accuracy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Applied on Cleveland and New York heart disease datasets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b="1">
                          <a:latin typeface="Merriweather"/>
                        </a:rPr>
                        <a:t>ADVANTAGES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Rules are highly interpretable for clinicians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Train-test approach prevents overfitting of rules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Effective rule pruning reduces complexity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Validated on two different hospital datasets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181226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b="1">
                          <a:latin typeface="Merriweather"/>
                        </a:rPr>
                        <a:t>Datasets Used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Cleveland Heart Disease Dataset (303 instances)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New York Heart Disease Dataset (411 instances)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b="1">
                          <a:latin typeface="Merriweather"/>
                        </a:rPr>
                        <a:t>DISADVANTAGES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Association rules limited in capturing complex patterns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Cannot model nonlinear feature interactions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Manual threshold setting for support and confidence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No comparison with neural network or deep learning 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26858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sz="2000" b="1">
                          <a:latin typeface="Merriweather"/>
                        </a:rPr>
                        <a:t>Final Result / Accuracy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Reduced rules from 68,000 to ~30 with high accuracy</a:t>
                      </a:r>
                    </a:p>
                    <a:p>
                      <a:pPr algn="l"/>
                      <a:r>
                        <a:rPr sz="2000" b="1">
                          <a:latin typeface="Merriweather"/>
                        </a:rPr>
                        <a:t>• Achieved ~74% accuracy on Cleveland, ~77% on New York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3C234-A52C-372C-724C-8FEB769AC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D57FED5-EF46-B0B2-A745-312D4DFEFC49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E5CE515-86FF-D0E4-9431-FB34A5BA9ECE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9A7B224-A5C2-9B72-A0B7-42E20233D1D1}"/>
              </a:ext>
            </a:extLst>
          </p:cNvPr>
          <p:cNvSpPr txBox="1"/>
          <p:nvPr/>
        </p:nvSpPr>
        <p:spPr>
          <a:xfrm>
            <a:off x="3333078" y="800100"/>
            <a:ext cx="11621844" cy="134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GAPS</a:t>
            </a:r>
            <a:endParaRPr lang="en-US" sz="8000" b="1" dirty="0">
              <a:solidFill>
                <a:srgbClr val="353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2B437E9-BAFB-7C6B-7159-8EF699510917}"/>
              </a:ext>
            </a:extLst>
          </p:cNvPr>
          <p:cNvSpPr txBox="1"/>
          <p:nvPr/>
        </p:nvSpPr>
        <p:spPr>
          <a:xfrm>
            <a:off x="1835244" y="2792781"/>
            <a:ext cx="14617512" cy="6318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From previous studies, the following problems are identified:</a:t>
            </a:r>
          </a:p>
          <a:p>
            <a:pPr>
              <a:lnSpc>
                <a:spcPct val="115000"/>
              </a:lnSpc>
              <a:spcAft>
                <a:spcPts val="700"/>
              </a:spcAft>
              <a:buNone/>
            </a:pP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Statistical models have low accuracy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Machine learning requires manual tuning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Deep learning architecture design is manual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Different architectures give different results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No guarantee of best model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Limited use of NAS in heart disease prediction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Need for automatic model generation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Need for higher accuracy medical prediction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Therefore, NAS-based heart disease prediction is required.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AB83ED02-E351-9781-1CEC-3AC79D2136C4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034408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TextBox 6"/>
          <p:cNvSpPr txBox="1"/>
          <p:nvPr/>
        </p:nvSpPr>
        <p:spPr>
          <a:xfrm>
            <a:off x="3770556" y="77159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OBJECTIVE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7244" y="2837665"/>
            <a:ext cx="8980079" cy="6228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Study existing heart disease prediction methods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Use Cleveland dataset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Implement ML models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Implement deep learning model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Apply Neural Architecture Search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Generate automatic neural network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Compare ML / DL / NAS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Improve accuracy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Develop automated system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457200" lvl="0" indent="-45720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Provide reliable prediction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3D096EAE-D46D-0560-C856-6B538BBD4A2A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7D9F9-6B87-811A-D943-8A32B374C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797" y="3086100"/>
            <a:ext cx="7303680" cy="48460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CC68E-4DD3-D983-B869-30F6CFEA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2C1A74-F617-968F-51A0-8845C6077A9C}"/>
              </a:ext>
            </a:extLst>
          </p:cNvPr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96EFCB4-B956-22C0-90C1-63E0990C632B}"/>
              </a:ext>
            </a:extLst>
          </p:cNvPr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D13B08E-9AF7-BAA6-97D0-95C21CBD5F16}"/>
              </a:ext>
            </a:extLst>
          </p:cNvPr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56DD241-DBFA-8C8E-36EF-EED93AACDA7A}"/>
              </a:ext>
            </a:extLst>
          </p:cNvPr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8ECAA7BE-3FEE-3A5B-6AF9-9D29DE0D8A1C}"/>
              </a:ext>
            </a:extLst>
          </p:cNvPr>
          <p:cNvSpPr txBox="1"/>
          <p:nvPr/>
        </p:nvSpPr>
        <p:spPr>
          <a:xfrm>
            <a:off x="2590800" y="717403"/>
            <a:ext cx="13487400" cy="2779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Abril Fatface"/>
                <a:ea typeface="Abril Fatface"/>
                <a:cs typeface="Abril Fatface"/>
                <a:sym typeface="Abril Fatface"/>
              </a:rPr>
              <a:t>SYSTEM ARCHITECTURE</a:t>
            </a:r>
          </a:p>
          <a:p>
            <a:pPr algn="ctr">
              <a:lnSpc>
                <a:spcPts val="11200"/>
              </a:lnSpc>
              <a:spcBef>
                <a:spcPct val="0"/>
              </a:spcBef>
            </a:pPr>
            <a:endParaRPr lang="en-US" sz="8000" dirty="0">
              <a:solidFill>
                <a:srgbClr val="353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37D5FC-DB95-72B8-A429-D39DC79A7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073767"/>
            <a:ext cx="7848600" cy="726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23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ECC8-1099-AAC8-165E-05E3CF6B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0D512B-4216-658A-5B66-ACC34C442DF1}"/>
              </a:ext>
            </a:extLst>
          </p:cNvPr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583850A-72D2-AA52-639F-07A81E5F39AD}"/>
              </a:ext>
            </a:extLst>
          </p:cNvPr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D67441D-5DD0-62AA-73C7-1882E4DCC326}"/>
              </a:ext>
            </a:extLst>
          </p:cNvPr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99B2258-0DAA-FA1D-D6CF-69748DD97321}"/>
              </a:ext>
            </a:extLst>
          </p:cNvPr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624E5D59-0C3E-1BF1-7745-4B273DA3968C}"/>
              </a:ext>
            </a:extLst>
          </p:cNvPr>
          <p:cNvSpPr txBox="1"/>
          <p:nvPr/>
        </p:nvSpPr>
        <p:spPr>
          <a:xfrm>
            <a:off x="3810000" y="928655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396F36-F2B8-569E-F2A1-26FD2A8DE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362" y="2476500"/>
            <a:ext cx="132588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69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429000" y="61375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2286000" y="2637503"/>
            <a:ext cx="13716000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proposed system focuses on developing an automated heart disease prediction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It uses Neural Architecture Search (NAS) to design the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system automatically preprocesses medical data for better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It generates multiple neural network architectures instead of using a single fixed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Each generated model is trained using the given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performance of all models is evaluated and compared.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best-performing model is selected for final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complete process includes problem definition, data preprocessing, architecture search, model training, evaluation, and prediction.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646B5A0-E827-8A83-DC5D-05226A407DCD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1957875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241A2-464C-54F9-E9C2-8878EFA71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3D94BFD3-6F21-6A48-CA49-0AB2061F9186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7AE1D9A-A6E8-6CA8-4A42-D5D3C3B73F9B}"/>
              </a:ext>
            </a:extLst>
          </p:cNvPr>
          <p:cNvSpPr txBox="1"/>
          <p:nvPr/>
        </p:nvSpPr>
        <p:spPr>
          <a:xfrm>
            <a:off x="2286000" y="1809373"/>
            <a:ext cx="14935200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>
                <a:latin typeface="Merriweather" panose="00000500000000000000" pitchFamily="2" charset="0"/>
              </a:rPr>
              <a:t>Problem Definition</a:t>
            </a:r>
          </a:p>
          <a:p>
            <a:pPr marL="514350" indent="-514350">
              <a:buAutoNum type="arabicPeriod"/>
            </a:pPr>
            <a:endParaRPr lang="en-US" sz="2800" b="1" dirty="0">
              <a:latin typeface="Merriweather" panose="000005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main goal of this project is to build a machine learning system to predict heart disease.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system uses patient medical data to make predictions.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This is a supervised learning problem where the model learns from labeled data.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model predicts whether a patient has heart disease or not.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Input features include</a:t>
            </a:r>
            <a:r>
              <a:rPr lang="en-US" sz="2800" dirty="0">
                <a:latin typeface="Merriweather" panose="00000500000000000000" pitchFamily="2" charset="0"/>
              </a:rPr>
              <a:t>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Age of the patient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Sex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Type of chest pain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Resting blood pressure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Cholesterol level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Fasting blood sugar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ECG results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Maximum heart rate achieved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3D3259D7-D0B8-96FF-DA1F-97407E9E5135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190BDB6F-52EE-5797-E567-281FDB22F1C8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325D2-4764-328A-E7F3-5CECEC90877F}"/>
              </a:ext>
            </a:extLst>
          </p:cNvPr>
          <p:cNvSpPr txBox="1"/>
          <p:nvPr/>
        </p:nvSpPr>
        <p:spPr>
          <a:xfrm>
            <a:off x="9525000" y="5471914"/>
            <a:ext cx="73690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anose="00000500000000000000" pitchFamily="2" charset="0"/>
                <a:ea typeface="+mn-ea"/>
                <a:cs typeface="+mn-cs"/>
              </a:rPr>
              <a:t>Exercise-induced angina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anose="00000500000000000000" pitchFamily="2" charset="0"/>
                <a:ea typeface="+mn-ea"/>
                <a:cs typeface="+mn-cs"/>
              </a:rPr>
              <a:t>Oldpeak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anose="00000500000000000000" pitchFamily="2" charset="0"/>
                <a:ea typeface="+mn-ea"/>
                <a:cs typeface="+mn-cs"/>
              </a:rPr>
              <a:t> value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anose="00000500000000000000" pitchFamily="2" charset="0"/>
                <a:ea typeface="+mn-ea"/>
                <a:cs typeface="+mn-cs"/>
              </a:rPr>
              <a:t>Slope of ST segment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Merriweather" panose="00000500000000000000" pitchFamily="2" charset="0"/>
              </a:rPr>
              <a:t>Number of major Vessels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anose="00000500000000000000" pitchFamily="2" charset="0"/>
                <a:ea typeface="+mn-ea"/>
                <a:cs typeface="+mn-cs"/>
              </a:rPr>
              <a:t>Thalassemia</a:t>
            </a:r>
          </a:p>
        </p:txBody>
      </p:sp>
    </p:spTree>
    <p:extLst>
      <p:ext uri="{BB962C8B-B14F-4D97-AF65-F5344CB8AC3E}">
        <p14:creationId xmlns:p14="http://schemas.microsoft.com/office/powerpoint/2010/main" val="207545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C83C-704F-02DF-5972-965655F5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460B19EC-DEB7-AF6C-3CEE-90481C40F2FC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0171ABF-0E81-BB9E-29CC-DE132DB03209}"/>
              </a:ext>
            </a:extLst>
          </p:cNvPr>
          <p:cNvSpPr txBox="1"/>
          <p:nvPr/>
        </p:nvSpPr>
        <p:spPr>
          <a:xfrm>
            <a:off x="2286000" y="1809373"/>
            <a:ext cx="137160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Output</a:t>
            </a:r>
            <a:r>
              <a:rPr lang="en-US" sz="2800" dirty="0">
                <a:latin typeface="Merriweather" panose="00000500000000000000" pitchFamily="2" charset="0"/>
              </a:rPr>
              <a:t>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0 means no heart disease.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1 means heart disease is present.</a:t>
            </a:r>
          </a:p>
          <a:p>
            <a:endParaRPr lang="en-US" sz="2800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Evaluation metrics used: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Accuracy checks overall correctness.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Precision measures correct positive predictions.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Recall measures how many actual positives are foundF1-score balances. precision and recall.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Confusion matrix shows prediction results clearly.</a:t>
            </a:r>
            <a:endParaRPr lang="en-IN" sz="280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BDF1541-505A-563E-97AD-6C087BE5C2D0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74508636-F01F-B2E3-B310-F3696D9BE1CA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387621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E6C8B-1E47-FFD2-E662-2C5F018A4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F44AECED-EC9E-1689-4F82-FFED82FEFFB0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63769E-0CBD-833D-7C54-972C6335DC45}"/>
              </a:ext>
            </a:extLst>
          </p:cNvPr>
          <p:cNvSpPr txBox="1"/>
          <p:nvPr/>
        </p:nvSpPr>
        <p:spPr>
          <a:xfrm>
            <a:off x="2560321" y="1651574"/>
            <a:ext cx="14996159" cy="8186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Merriweather" panose="00000500000000000000" pitchFamily="2" charset="0"/>
              </a:rPr>
              <a:t>2. Data Collection and Preprocessing</a:t>
            </a:r>
          </a:p>
          <a:p>
            <a:endParaRPr lang="en-US" sz="2800" b="1" dirty="0">
              <a:latin typeface="Merriweather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</a:t>
            </a:r>
            <a:r>
              <a:rPr lang="en-US" sz="2800" b="1" dirty="0">
                <a:latin typeface="Merriweather" panose="00000500000000000000" pitchFamily="2" charset="0"/>
              </a:rPr>
              <a:t> </a:t>
            </a:r>
            <a:r>
              <a:rPr lang="en-US" sz="2800" dirty="0">
                <a:latin typeface="Merriweather" panose="00000500000000000000" pitchFamily="2" charset="0"/>
              </a:rPr>
              <a:t>dataset can be collected from hospitals or public sources like Cleveland dataset.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Before training, data must be cleaned and prepared properly.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Data Validation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The dataset is checked for errors and correctness.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Missing values are identified.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Incorrect data types are corrected.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Empty columns are removed.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Target labels are verified.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Invalid data is removed to improve accuracy.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Merriweather" panose="00000500000000000000" pitchFamily="2" charset="0"/>
              </a:rPr>
              <a:t> </a:t>
            </a:r>
            <a:r>
              <a:rPr lang="en-US" sz="2800" i="1" dirty="0">
                <a:latin typeface="Merriweather" panose="00000500000000000000" pitchFamily="2" charset="0"/>
              </a:rPr>
              <a:t>Handling Missing Values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Missing numerical values are replaced with mean or median.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Missing categorical values are replaced with mode.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Rows with too many missing values are removed.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This step ensures complete and clean data.</a:t>
            </a:r>
            <a:endParaRPr lang="en-IN" sz="280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EA61D62-BB2D-A9A3-ECFB-AFD1A9E406CC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11114D1-1747-4F07-551D-A8A43B7F4343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225990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DBFB9-ADE8-D878-6D5A-FD7776941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069E77EE-76F4-5EC1-A7BD-279E90A645E4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03B394-F893-0971-3054-BFBE2222891C}"/>
              </a:ext>
            </a:extLst>
          </p:cNvPr>
          <p:cNvSpPr txBox="1"/>
          <p:nvPr/>
        </p:nvSpPr>
        <p:spPr>
          <a:xfrm>
            <a:off x="2286000" y="1809373"/>
            <a:ext cx="13716000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Feature Encoding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Some data values are categorical and need conversion.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Label encoding assigns numbers to categories.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One-hot encoding creates binary columns.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This helps the neural network understand the data.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Data Normalization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Features may have different ranges.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Large values can affect learning negatively.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Min–Max scaling brings values between 0 and 1.Standardization scales data around mean.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This improves model performance and training speed.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Train–Test Split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Data is divided into three parts.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Training set is used to train the model.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Validation set is used to compare models.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Testing set is used for final evaluation.</a:t>
            </a:r>
            <a:endParaRPr lang="en-IN" sz="280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0AAB656F-73D6-C022-AA90-3E67CD3A4A90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72EE9D3D-5843-0C5B-BE6B-187B3CC4A952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674024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9EC04-F662-A92A-1B56-714D45FB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245CC228-77DC-4EA3-31C9-3A078F4A1246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D134294-0BBC-9271-64E2-AC7BCE84064E}"/>
              </a:ext>
            </a:extLst>
          </p:cNvPr>
          <p:cNvSpPr txBox="1"/>
          <p:nvPr/>
        </p:nvSpPr>
        <p:spPr>
          <a:xfrm>
            <a:off x="2286000" y="1809373"/>
            <a:ext cx="13716000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Merriweather" panose="00000500000000000000" pitchFamily="2" charset="0"/>
              </a:rPr>
              <a:t>3.Neural Architecture Search (NAS)</a:t>
            </a:r>
          </a:p>
          <a:p>
            <a:endParaRPr lang="en-US" sz="2800" b="1" dirty="0">
              <a:latin typeface="Merriweather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NAS automatically finds the best neural network design.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It removes the need for manual model design.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It has three main components.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i="1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Search Space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Search space includes all possible model designs.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It defines different combinations of parameters.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Parameters include: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Number of hidden layers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Number of neurons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Activation functions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Dropout layers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Optimizer type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Learning Rate</a:t>
            </a:r>
            <a:endParaRPr lang="en-IN" sz="280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F16FE47-01B9-D7DE-09B7-614503FBEF83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4C0C4D00-5638-5DE7-D64C-6264C2139B61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217909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108AE-E80A-A799-6E05-DC0EC47D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C4CA3F33-D165-F02D-488B-F95F8893C8B5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9E57627-4787-7FD0-E00B-F236D84DACFD}"/>
              </a:ext>
            </a:extLst>
          </p:cNvPr>
          <p:cNvSpPr txBox="1"/>
          <p:nvPr/>
        </p:nvSpPr>
        <p:spPr>
          <a:xfrm>
            <a:off x="2286000" y="2019300"/>
            <a:ext cx="13716000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 Search Strategy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Search strategy decides how models are generated.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It explores different architectures.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Methods include: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Random search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Evolutionary algorithms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Reinforcement learning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Gradient-based methods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i="1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Candidate Model Generation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Multiple models are created automatically.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Each model has a different structure.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All models are trained using training data.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Models are evaluated using validation data.</a:t>
            </a:r>
            <a:endParaRPr lang="en-IN" sz="280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60ED4F7-8BED-9641-9EFB-68A4AA3A01E9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42F9DB3C-1320-7411-C5A5-681A526976B9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109467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E8AAD-D35E-1407-14CA-1300D1DB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6E41B525-3D2C-9D1F-8B9C-8919FF58A6BD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EC52FFE-FDFF-0DFF-DF1C-4359F9DB5DE9}"/>
              </a:ext>
            </a:extLst>
          </p:cNvPr>
          <p:cNvSpPr txBox="1"/>
          <p:nvPr/>
        </p:nvSpPr>
        <p:spPr>
          <a:xfrm>
            <a:off x="2606041" y="2342733"/>
            <a:ext cx="13716000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Merriweather" panose="00000500000000000000" pitchFamily="2" charset="0"/>
              </a:rPr>
              <a:t>4. Model Training and Evaluation</a:t>
            </a:r>
          </a:p>
          <a:p>
            <a:endParaRPr lang="en-US" sz="2800" b="1" dirty="0">
              <a:latin typeface="Merriweather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Each generated model is trained on the dataset.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model learns by adjusting weights using backpropagation.</a:t>
            </a:r>
          </a:p>
          <a:p>
            <a:endParaRPr lang="en-US" sz="2800" dirty="0">
              <a:latin typeface="Merriweather" panose="00000500000000000000" pitchFamily="2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Training settings include: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Loss function is binary cross-entropy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Optimizer can be Adam or SGD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Activation functions include </a:t>
            </a:r>
            <a:r>
              <a:rPr lang="en-US" sz="2800" dirty="0" err="1">
                <a:latin typeface="Merriweather" panose="00000500000000000000" pitchFamily="2" charset="0"/>
              </a:rPr>
              <a:t>ReLU</a:t>
            </a:r>
            <a:r>
              <a:rPr lang="en-US" sz="2800" dirty="0">
                <a:latin typeface="Merriweather" panose="00000500000000000000" pitchFamily="2" charset="0"/>
              </a:rPr>
              <a:t>, Sigmoid, and Tanh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Training runs for multiple epochs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After training, models are evaluated.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Performance is measured using accuracy, precision, recall, and F1-score.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Results are stored for comparison</a:t>
            </a:r>
            <a:r>
              <a:rPr lang="en-US" sz="2800" i="1" dirty="0">
                <a:latin typeface="Merriweather" panose="00000500000000000000" pitchFamily="2" charset="0"/>
              </a:rPr>
              <a:t>.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endParaRPr lang="en-US" sz="2800" i="1" dirty="0">
              <a:latin typeface="Merriweather" panose="00000500000000000000" pitchFamily="2" charset="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6DA77E1-B846-9F36-0E5B-C93BBB31AA09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AAD12727-20DC-8642-522D-E164295E6770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5123953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B23B2-7EBF-3306-F6C0-92A4F8859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A261E60A-2383-9CCB-C6A1-8B7386413DA1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A796F09-6C73-2570-87C4-0BD73609BCCD}"/>
              </a:ext>
            </a:extLst>
          </p:cNvPr>
          <p:cNvSpPr txBox="1"/>
          <p:nvPr/>
        </p:nvSpPr>
        <p:spPr>
          <a:xfrm>
            <a:off x="2606041" y="2342733"/>
            <a:ext cx="13716000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Merriweather" panose="00000500000000000000" pitchFamily="2" charset="0"/>
              </a:rPr>
              <a:t>5. Model Selection</a:t>
            </a:r>
          </a:p>
          <a:p>
            <a:endParaRPr lang="en-US" sz="2800" b="1" dirty="0">
              <a:latin typeface="Merriweather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best model is selected after evaluation.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Selection is based on performance metrics.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latin typeface="Merriweather" panose="00000500000000000000" pitchFamily="2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Criteria include: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Highest validation accuracy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Lowest loss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Best F1-score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This model is considered the optimal architecture.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It is used for future predictions.</a:t>
            </a:r>
            <a:endParaRPr lang="en-IN" sz="2800" dirty="0">
              <a:latin typeface="Merriweather" panose="00000500000000000000" pitchFamily="2" charset="0"/>
            </a:endParaRPr>
          </a:p>
          <a:p>
            <a:pPr marL="1371600" lvl="2" indent="-457200">
              <a:buFont typeface="Wingdings" panose="05000000000000000000" pitchFamily="2" charset="2"/>
              <a:buChar char="§"/>
            </a:pPr>
            <a:endParaRPr lang="en-US" sz="2800" i="1" dirty="0">
              <a:latin typeface="Merriweather" panose="00000500000000000000" pitchFamily="2" charset="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6D97D0E8-559C-D5CF-4C4D-D9CCC8C07936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25585F36-BDB8-48CB-BDF0-4516412D1349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1341514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D1DD3-A284-55AC-B5C6-21A5AF16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784D2775-0833-884D-549E-FDEFF0F103B9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8F28D2F-7C32-FA05-7503-0B781A84DD95}"/>
              </a:ext>
            </a:extLst>
          </p:cNvPr>
          <p:cNvSpPr txBox="1"/>
          <p:nvPr/>
        </p:nvSpPr>
        <p:spPr>
          <a:xfrm>
            <a:off x="2606041" y="2342733"/>
            <a:ext cx="13716000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Merriweather" panose="00000500000000000000" pitchFamily="2" charset="0"/>
              </a:rPr>
              <a:t>6. System Interface</a:t>
            </a:r>
          </a:p>
          <a:p>
            <a:endParaRPr lang="en-US" sz="2800" b="1" dirty="0">
              <a:latin typeface="Merriweather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system provides a simple user interface.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Users can upload datasets.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Users can start architecture search.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Models are trained automatically.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Results are displayed clearly.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Users can make predictions easily.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No deep technical knowledge is required.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F619EEE4-C34A-AAAB-6209-DA6AD5C347BE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A36C9CDA-8BB3-424E-2028-486253EAACEC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44279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50A90-0954-CE7D-AC4B-89B0B673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58C34F27-30A6-DBF2-7BAA-88837A31BBCC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55D68D0-A52E-2E77-08B2-D77EF4BBDDD4}"/>
              </a:ext>
            </a:extLst>
          </p:cNvPr>
          <p:cNvSpPr txBox="1"/>
          <p:nvPr/>
        </p:nvSpPr>
        <p:spPr>
          <a:xfrm>
            <a:off x="2606041" y="2342733"/>
            <a:ext cx="13716000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Merriweather" panose="00000500000000000000" pitchFamily="2" charset="0"/>
              </a:rPr>
              <a:t>7. Prediction Process</a:t>
            </a:r>
          </a:p>
          <a:p>
            <a:endParaRPr lang="en-US" sz="2800" b="1" dirty="0">
              <a:latin typeface="Merriweather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final model is used to predict new cases.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Merriweather" panose="00000500000000000000" pitchFamily="2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Merriweather" panose="00000500000000000000" pitchFamily="2" charset="0"/>
              </a:rPr>
              <a:t>Steps include: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User enters patient data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Data is preprocessed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Trained model is applied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Prediction is generated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Merriweather" panose="00000500000000000000" pitchFamily="2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Merriweather" panose="00000500000000000000" pitchFamily="2" charset="0"/>
              </a:rPr>
              <a:t>Output: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Shows whether disease is present or not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Provides probability value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This helps in early detection of heart disease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F9AD6BB-2E5A-6AC8-CB54-B0B3F232157E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39A61DA5-A054-87B4-CD02-34D78F1318DC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224179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E0383-C77D-5D47-EAEF-2E2A371D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C3AF88B6-0F55-278B-9AB0-0AE130276667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TECHNOLOGY USED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24E85B8-FDE9-6F32-16E3-2EEBD2EC2937}"/>
              </a:ext>
            </a:extLst>
          </p:cNvPr>
          <p:cNvSpPr txBox="1"/>
          <p:nvPr/>
        </p:nvSpPr>
        <p:spPr>
          <a:xfrm>
            <a:off x="1676400" y="2095500"/>
            <a:ext cx="16002000" cy="9587240"/>
          </a:xfrm>
          <a:prstGeom prst="rect">
            <a:avLst/>
          </a:prstGeom>
        </p:spPr>
        <p:txBody>
          <a:bodyPr wrap="square" lIns="0" tIns="0" rIns="0" bIns="0" numCol="2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SOFTWARE REQUIREMENTS: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                                                                                                                              </a:t>
            </a:r>
          </a:p>
          <a:p>
            <a:pPr marL="514350" marR="0" lvl="0" indent="-51435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Programming &amp; Development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Python – Core programming language         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TensorFlow /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Keras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– Deep learning framework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Evolutionary Algorithm – Architecture optimization    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2. Web Development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Flask – Backend web framework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HTML, CSS, JavaScript – Frontend interface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Server-Sent Events (SSE) – Real-time updates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latin typeface="Merriweather"/>
                <a:ea typeface="Merriweather"/>
                <a:cs typeface="Merriweather"/>
                <a:sym typeface="Merriweather"/>
              </a:rPr>
              <a:t>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3. Dataset &amp; Processing</a:t>
            </a:r>
          </a:p>
          <a:p>
            <a:pPr marL="800100" marR="0" lvl="1" indent="-3429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Heart Disease Dataset (CSV format)</a:t>
            </a:r>
          </a:p>
          <a:p>
            <a:pPr marL="800100" marR="0" lvl="1" indent="-3429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NumPy, Pandas – Data handling</a:t>
            </a:r>
          </a:p>
          <a:p>
            <a:pPr marL="800100" marR="0" lvl="1" indent="-3429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Scikit-learn – Preprocessing &amp; train-test split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      HARDWARE REQUIREMENTS: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914400" marR="0" lvl="1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Processor: i3 or higher</a:t>
            </a:r>
          </a:p>
          <a:p>
            <a:pPr marL="914400" marR="0" lvl="1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RAM: Minimum 8 GB</a:t>
            </a:r>
          </a:p>
          <a:p>
            <a:pPr marL="914400" marR="0" lvl="1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Storage: At least 512 MB free space</a:t>
            </a:r>
          </a:p>
          <a:p>
            <a:pPr marL="914400" marR="0" lvl="1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GPU: Optional (for faster training)</a:t>
            </a:r>
          </a:p>
          <a:p>
            <a:pPr marL="914400" marR="0" lvl="1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Display: 1366×768 resolution or higher</a:t>
            </a:r>
          </a:p>
          <a:p>
            <a:pPr lvl="1"/>
            <a:endParaRPr lang="en-US" sz="2800" dirty="0">
              <a:latin typeface="Merriweather" panose="00000500000000000000" pitchFamily="2" charset="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CB87856D-8F68-9CFB-F86B-00C08803897A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41B457E6-B648-13AD-6214-DAA10515D12C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9659710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571197" y="97822"/>
            <a:ext cx="10383605" cy="148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 panose="00000500000000000000"/>
              </a:rPr>
              <a:t>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1752600" y="2356487"/>
            <a:ext cx="15773400" cy="5574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2400" b="1" dirty="0">
                <a:latin typeface="Merriweather" panose="00000500000000000000"/>
              </a:rPr>
              <a:t>1</a:t>
            </a:r>
            <a:r>
              <a:rPr lang="en-US" sz="2800" b="1" dirty="0">
                <a:latin typeface="Merriweather" panose="00000500000000000000"/>
              </a:rPr>
              <a:t>. Project Structure &amp; Technology Stack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Developed using Python + Flask (backend)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Deep learning using TensorFlow / </a:t>
            </a:r>
            <a:r>
              <a:rPr lang="en-US" sz="2400" dirty="0" err="1">
                <a:latin typeface="Merriweather" panose="00000500000000000000"/>
              </a:rPr>
              <a:t>Keras</a:t>
            </a:r>
            <a:endParaRPr lang="en-US" sz="2400" dirty="0">
              <a:latin typeface="Merriweather" panose="0000050000000000000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Data processing using Pandas &amp; Scikit-learn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Web interface for training and prediction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System divided into: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Data pipeline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NAS engine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Web application</a:t>
            </a:r>
            <a:endParaRPr lang="en-US" sz="2000" dirty="0">
              <a:latin typeface="Merriweather" panose="0000050000000000000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429000" y="613750"/>
            <a:ext cx="10383605" cy="148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 panose="00000500000000000000"/>
              </a:rPr>
              <a:t>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2590801" y="2857500"/>
            <a:ext cx="13716000" cy="5481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2400" b="1" dirty="0">
                <a:latin typeface="Merriweather" panose="00000500000000000000"/>
              </a:rPr>
              <a:t>2. Data Pipeline </a:t>
            </a:r>
          </a:p>
          <a:p>
            <a:pPr marL="0" indent="0">
              <a:lnSpc>
                <a:spcPct val="150000"/>
              </a:lnSpc>
            </a:pPr>
            <a:endParaRPr lang="en-US" sz="2400" b="1" dirty="0">
              <a:latin typeface="Merriweather" panose="0000050000000000000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Dataset uploaded by user (CSV/Excel)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Missing values handled (mean/mode)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Categorical data encoded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Data normalized for better training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Dataset split into: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Training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Validation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Testing</a:t>
            </a:r>
            <a:endParaRPr lang="en-US" sz="2400" b="0" dirty="0">
              <a:latin typeface="Merriweather" panose="0000050000000000000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646B5A0-E827-8A83-DC5D-05226A407DCD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429000" y="613750"/>
            <a:ext cx="10383605" cy="148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 panose="00000500000000000000"/>
              </a:rPr>
              <a:t>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2286000" y="2637503"/>
            <a:ext cx="13716000" cy="6543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2400" b="1" dirty="0">
                <a:latin typeface="Merriweather" panose="00000500000000000000"/>
              </a:rPr>
              <a:t>3. Neural Architecture Search</a:t>
            </a:r>
          </a:p>
          <a:p>
            <a:pPr marL="0" indent="0">
              <a:lnSpc>
                <a:spcPct val="150000"/>
              </a:lnSpc>
            </a:pPr>
            <a:endParaRPr lang="en-US" sz="2200" b="0" dirty="0">
              <a:latin typeface="Merriweather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Multiple neural networks generated automatically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Different configurations: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Layers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Neurons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Activation functions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Models trained on dataset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Performance evaluated using: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Accuracy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Precision / Recall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Best model selected automatically</a:t>
            </a:r>
            <a:endParaRPr lang="en-US" sz="2400" b="0" dirty="0">
              <a:latin typeface="Merriweather" panose="0000050000000000000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646B5A0-E827-8A83-DC5D-05226A407DCD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429000" y="613750"/>
            <a:ext cx="10383605" cy="148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 panose="00000500000000000000"/>
              </a:rPr>
              <a:t>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2743200" y="2781300"/>
            <a:ext cx="13716000" cy="4927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2400" b="1" dirty="0">
                <a:latin typeface="Merriweather" panose="00000500000000000000"/>
              </a:rPr>
              <a:t>4. Prediction System</a:t>
            </a:r>
          </a:p>
          <a:p>
            <a:pPr marL="0" indent="0">
              <a:lnSpc>
                <a:spcPct val="150000"/>
              </a:lnSpc>
            </a:pPr>
            <a:endParaRPr lang="en-US" sz="2400" b="1" dirty="0">
              <a:latin typeface="Merriweather" panose="0000050000000000000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User inputs patient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Data is preprocessed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Best trained model used for prediction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erriweather" panose="00000500000000000000"/>
              </a:rPr>
              <a:t>Output: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Disease present / not present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Probability score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Merriweather" panose="00000500000000000000"/>
              </a:rPr>
              <a:t>Simple web interface for easy usage</a:t>
            </a:r>
            <a:endParaRPr lang="en-US" sz="2400" b="0" dirty="0">
              <a:latin typeface="Merriweather" panose="0000050000000000000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646B5A0-E827-8A83-DC5D-05226A407DCD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72507-703E-BA63-6A5C-2C2E842CD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2381170-21D1-EEC0-23B7-A543B3DC20C4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A27CEDF-41B6-D1D9-0CC1-F5B875111DF4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3A90453-1EE6-6CFC-019F-7043E59E5236}"/>
              </a:ext>
            </a:extLst>
          </p:cNvPr>
          <p:cNvSpPr txBox="1"/>
          <p:nvPr/>
        </p:nvSpPr>
        <p:spPr>
          <a:xfrm>
            <a:off x="3733800" y="626253"/>
            <a:ext cx="11850444" cy="118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endParaRPr lang="en-US" sz="72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INTERIM RESULTS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1A2107-8868-209B-0A53-2BD81B948DC9}"/>
              </a:ext>
            </a:extLst>
          </p:cNvPr>
          <p:cNvSpPr txBox="1"/>
          <p:nvPr/>
        </p:nvSpPr>
        <p:spPr>
          <a:xfrm>
            <a:off x="2971800" y="2651760"/>
            <a:ext cx="11850444" cy="276999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8C2783B-589F-C822-1118-6E04E6D07917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5E8CD-7F88-D851-59D5-529F1818B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095500"/>
            <a:ext cx="12231444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635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4590-2A3B-4482-ECB5-1C4089127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BE041A8-C4BB-C5C4-C6F0-CDF39CDC49A4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513611F-99B5-C61B-D721-1510114140E7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D8B29FB-6C6F-1B67-FC36-F647004B4AB2}"/>
              </a:ext>
            </a:extLst>
          </p:cNvPr>
          <p:cNvSpPr txBox="1"/>
          <p:nvPr/>
        </p:nvSpPr>
        <p:spPr>
          <a:xfrm>
            <a:off x="3846755" y="626253"/>
            <a:ext cx="11850444" cy="118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endParaRPr lang="en-US" sz="72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INTERIM RESULTS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8DE5E32-EED2-C19C-3A53-F90CC8E10CFD}"/>
              </a:ext>
            </a:extLst>
          </p:cNvPr>
          <p:cNvSpPr txBox="1"/>
          <p:nvPr/>
        </p:nvSpPr>
        <p:spPr>
          <a:xfrm>
            <a:off x="2971800" y="2651760"/>
            <a:ext cx="11850444" cy="276999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6A9581B1-0407-A0FB-9F74-7F8797B648FA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51E52A-55FD-E59D-B8C6-2CE9CEA64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560" y="2247900"/>
            <a:ext cx="11850443" cy="670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97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B0839-FA00-2D67-4EE4-045AFAE5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94206DD-59C1-8B77-4124-207C13B38DD7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EC8EB77-4495-762A-239C-E08EABA8C300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466FB1C-4BFA-9750-A5E5-A7A728A09067}"/>
              </a:ext>
            </a:extLst>
          </p:cNvPr>
          <p:cNvSpPr txBox="1"/>
          <p:nvPr/>
        </p:nvSpPr>
        <p:spPr>
          <a:xfrm>
            <a:off x="3733800" y="626253"/>
            <a:ext cx="11850444" cy="118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endParaRPr lang="en-US" sz="72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INTERIM RESULTS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B761E9A-5B6F-0BA0-D09C-0CBC6F541F4A}"/>
              </a:ext>
            </a:extLst>
          </p:cNvPr>
          <p:cNvSpPr txBox="1"/>
          <p:nvPr/>
        </p:nvSpPr>
        <p:spPr>
          <a:xfrm>
            <a:off x="2971800" y="2651760"/>
            <a:ext cx="11850444" cy="276999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B41F370F-9D25-C0B1-D013-4106E3ABD9B0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F9E8A-3F9E-3359-A694-F9A8E13FD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194" y="2171700"/>
            <a:ext cx="12612444" cy="701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072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FC439-D01C-1570-1757-4A5D0360F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1D40B44-CB17-F0B1-B71F-0F441A7E0E65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C419C9D-FC30-6713-42D1-0873FCF97198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C263555-E7C3-CD3F-498C-4318824DFF93}"/>
              </a:ext>
            </a:extLst>
          </p:cNvPr>
          <p:cNvSpPr txBox="1"/>
          <p:nvPr/>
        </p:nvSpPr>
        <p:spPr>
          <a:xfrm>
            <a:off x="4076683" y="1409700"/>
            <a:ext cx="11850444" cy="644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TIMELINE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879B281-F8E3-AE6F-2026-1AFC82A5921D}"/>
              </a:ext>
            </a:extLst>
          </p:cNvPr>
          <p:cNvSpPr txBox="1"/>
          <p:nvPr/>
        </p:nvSpPr>
        <p:spPr>
          <a:xfrm>
            <a:off x="2971800" y="2651760"/>
            <a:ext cx="11850444" cy="276999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7E6F64F-9740-BC4A-C08B-7E2115C903CA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C90488-13B7-CD52-71AB-2898FCFDB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683" y="2054300"/>
            <a:ext cx="9147914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117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94F49-9EC1-0B5A-531D-E7C643762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F1B7E3A-B7C6-286C-AE88-0728F48BBB09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9AD1F10-B142-1C18-1AB3-29B51D390A0E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1D31219-1BD8-9F0F-702F-1E6A5DFDA836}"/>
              </a:ext>
            </a:extLst>
          </p:cNvPr>
          <p:cNvSpPr txBox="1"/>
          <p:nvPr/>
        </p:nvSpPr>
        <p:spPr>
          <a:xfrm>
            <a:off x="4800600" y="954514"/>
            <a:ext cx="11850444" cy="118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endParaRPr lang="en-US" sz="72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C7B0ECD-A6E0-9EBB-2943-E0F6CA3A11AD}"/>
              </a:ext>
            </a:extLst>
          </p:cNvPr>
          <p:cNvSpPr txBox="1"/>
          <p:nvPr/>
        </p:nvSpPr>
        <p:spPr>
          <a:xfrm>
            <a:off x="2667000" y="2857500"/>
            <a:ext cx="13220700" cy="4267835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Heart disease is a leading cause of death; early detection is important.</a:t>
            </a:r>
          </a:p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Manual diagnosis can be complex and time-consuming.</a:t>
            </a:r>
          </a:p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This project uses an AI-based system for heart disease prediction.</a:t>
            </a:r>
          </a:p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It uses Evolutionary Neural Architecture Search (NAS).NAS automatically finds the best neural network model.</a:t>
            </a:r>
          </a:p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The system improves prediction accuracy.</a:t>
            </a:r>
          </a:p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It is efficient, scalable, and easy to use.</a:t>
            </a:r>
          </a:p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It helps doctors and improves patient outcomes.</a:t>
            </a:r>
            <a:r>
              <a:rPr lang="en-US" dirty="0"/>
              <a:t> </a:t>
            </a:r>
            <a:endParaRPr lang="en-IN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28B5E895-B723-7DB0-B02B-63F1A0CA5395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31356198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A2335-0694-5C80-6AA1-798BD609D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2DA4F7D-A776-E9C8-95A2-D20D1883E20A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E2C85D6-B66B-A541-77F9-FC24132AA839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2F94C88-1E07-6108-6F91-75C88EA91C8A}"/>
              </a:ext>
            </a:extLst>
          </p:cNvPr>
          <p:cNvSpPr txBox="1"/>
          <p:nvPr/>
        </p:nvSpPr>
        <p:spPr>
          <a:xfrm>
            <a:off x="5294555" y="401751"/>
            <a:ext cx="11850444" cy="118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endParaRPr lang="en-US" sz="72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0A2EE34-58E3-3E1D-F75E-038A223A2C15}"/>
              </a:ext>
            </a:extLst>
          </p:cNvPr>
          <p:cNvSpPr txBox="1"/>
          <p:nvPr/>
        </p:nvSpPr>
        <p:spPr>
          <a:xfrm>
            <a:off x="1219200" y="1702961"/>
            <a:ext cx="16154399" cy="7482754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457200" indent="-457200">
              <a:lnSpc>
                <a:spcPts val="4200"/>
              </a:lnSpc>
              <a:buAutoNum type="arabicPeriod"/>
            </a:pPr>
            <a:r>
              <a:rPr sz="900">
                <a:solidFill>
                  <a:srgbClr val="000000"/>
                </a:solidFill>
                <a:latin typeface="Merriweather"/>
              </a:rPr>
              <a:t>[1] R. Detrano et al., "International application of a new probability algorithm for the diagnosis of coronary artery disease," Am. J. Cardiol., vol. 64, pp. 304–310, 1989.</a:t>
            </a:r>
          </a:p>
          <a:p>
            <a:r>
              <a:rPr sz="900">
                <a:solidFill>
                  <a:srgbClr val="000000"/>
                </a:solidFill>
                <a:latin typeface="Merriweather"/>
              </a:rPr>
              <a:t>[2] H. Liu, K. Simonyan, and Y. Yang, "DARTS: Differentiable Architecture Search," in Proc. ICLR, 2019.</a:t>
            </a:r>
          </a:p>
          <a:p>
            <a:r>
              <a:rPr sz="900">
                <a:solidFill>
                  <a:srgbClr val="000000"/>
                </a:solidFill>
                <a:latin typeface="Merriweather"/>
              </a:rPr>
              <a:t>[3] V. V. Ramalingam, A. Dandapath, and M. K. Raja, "Heart disease prediction using machine learning techniques: a survey," Int. J. Eng. Technol., vol. 7, no. 2.8, pp. 684–687, 2018.</a:t>
            </a:r>
          </a:p>
          <a:p>
            <a:r>
              <a:rPr sz="900">
                <a:solidFill>
                  <a:srgbClr val="000000"/>
                </a:solidFill>
                <a:latin typeface="Merriweather"/>
              </a:rPr>
              <a:t>[4] B. Zoph and Q. V. Le, "Neural Architecture Search with Reinforcement Learning," in Proc. ICLR, 2017.</a:t>
            </a:r>
          </a:p>
          <a:p>
            <a:r>
              <a:rPr sz="900">
                <a:solidFill>
                  <a:srgbClr val="000000"/>
                </a:solidFill>
                <a:latin typeface="Merriweather"/>
              </a:rPr>
              <a:t>[5] T. Elsken, J. H. Metzen, and F. Hutter, "Neural Architecture Search: A Survey," J. Mach. Learn. Res., vol. 20, pp. 1–21, 2019.</a:t>
            </a:r>
          </a:p>
          <a:p>
            <a:r>
              <a:rPr sz="900">
                <a:solidFill>
                  <a:srgbClr val="000000"/>
                </a:solidFill>
                <a:latin typeface="Merriweather"/>
              </a:rPr>
              <a:t>[6] S. Ö. Arık and T. Pfister, "TabNet: Attentive Interpretable Tabular Learning," in Proc. AAAI, vol. 35, pp. 6679–6687, 2021.</a:t>
            </a:r>
          </a:p>
          <a:p>
            <a:r>
              <a:rPr sz="900">
                <a:solidFill>
                  <a:srgbClr val="000000"/>
                </a:solidFill>
                <a:latin typeface="Merriweather"/>
              </a:rPr>
              <a:t>[7] X. He, K. Zhao, and X. Chu, "AutoML: A Survey of the State-of-the-Art," Knowl.-Based Syst., vol. 212, p. 106622, 2021.</a:t>
            </a:r>
          </a:p>
          <a:p>
            <a:r>
              <a:rPr sz="900">
                <a:solidFill>
                  <a:srgbClr val="000000"/>
                </a:solidFill>
                <a:latin typeface="Merriweather"/>
              </a:rPr>
              <a:t>[8] H. A. Al-Alshaikh et al., "Comprehensive evaluation and performance analysis of machine learning in heart disease prediction," Sci. Rep., vol. 14, p. 9819, 2024.</a:t>
            </a: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C1485286-EF82-842F-1C7B-8C84F9D1744D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737180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8DCB-EF43-1697-3EF6-DC163C5E6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52E6309-97D5-40E9-F34B-EC24E316212F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49C8DA5-9954-C833-658B-60E7E1EDDB1D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0007C77-E0B9-1FE7-29FA-5F5444C9D173}"/>
              </a:ext>
            </a:extLst>
          </p:cNvPr>
          <p:cNvSpPr txBox="1"/>
          <p:nvPr/>
        </p:nvSpPr>
        <p:spPr>
          <a:xfrm>
            <a:off x="5257800" y="464574"/>
            <a:ext cx="11850444" cy="118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endParaRPr lang="en-US" sz="72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7A4610-F2FC-E64F-3FA3-B92D26EAD541}"/>
              </a:ext>
            </a:extLst>
          </p:cNvPr>
          <p:cNvSpPr txBox="1"/>
          <p:nvPr/>
        </p:nvSpPr>
        <p:spPr>
          <a:xfrm>
            <a:off x="1371600" y="1542820"/>
            <a:ext cx="15544800" cy="8024697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r>
              <a:rPr sz="900"/>
              <a:t>[9] H. Cai, L. Zhu, and S. Han, "ProxylessNAS: Direct Neural Architecture Search on Target Task and Hardware," in Proc. ICLR, 2019.</a:t>
            </a:r>
          </a:p>
          <a:p>
            <a:r>
              <a:rPr sz="900"/>
              <a:t>[10] E. Real, A. Aggarwal, Y. Huang, and Q. V. Le, "Regularized Evolution for Image Classifier Architecture Search," in Proc. AAAI, vol. 33, pp. 4780–4789, 2019.</a:t>
            </a:r>
          </a:p>
          <a:p>
            <a:r>
              <a:rPr sz="900"/>
              <a:t>[11] H. Pham, M. Y. Guan, B. Zoph, Q. V. Le, and J. Dean, "Efficient Neural Architecture Search via Parameter Sharing," in Proc. ICML, pp. 4095–4104, 2018.</a:t>
            </a:r>
          </a:p>
          <a:p>
            <a:r>
              <a:rPr sz="900"/>
              <a:t>[12] S. Xie, H. Zheng, C. Liu, and L. Lin, "SNAS: Stochastic Neural Architecture Search," in Proc. ICLR, 2019.</a:t>
            </a:r>
          </a:p>
          <a:p>
            <a:r>
              <a:rPr sz="900"/>
              <a:t>[13] X. Dong and Y. Yang, "NAS-Bench-201: Extending the Scope of Reproducible Neural Architecture Search," in Proc. ICLR, 2020.</a:t>
            </a:r>
          </a:p>
          <a:p>
            <a:r>
              <a:rPr sz="900"/>
              <a:t>[14] H. D. Masethe and M. A. Masethe, "Prediction of heart disease using classification algorithms," in Proc. World Congr. Eng. Comput. Sci. (WCECS), vol. II, pp. 809–812, 2014.</a:t>
            </a:r>
          </a:p>
          <a:p>
            <a:r>
              <a:rPr sz="900"/>
              <a:t>[15] C. Ordonez, "Association rule discovery with the train and test approach for heart disease prediction," IEEE Trans. Inf. Technol. Biomed., vol. 10, no. 2, pp. 334–343, 2006.</a:t>
            </a:r>
          </a:p>
          <a:p>
            <a:r>
              <a:rPr sz="900"/>
              <a:t>[16] M. S. Ekambareesh and K. B. V. Prasad, "Heart Disease Prediction using Machine Learning Algorithms," IJMRSET, vol. 7, no. 9, 2024, doi: 10.15680/IJMRSET.2024.0709023.</a:t>
            </a:r>
          </a:p>
        </p:txBody>
      </p:sp>
    </p:spTree>
    <p:extLst>
      <p:ext uri="{BB962C8B-B14F-4D97-AF65-F5344CB8AC3E}">
        <p14:creationId xmlns:p14="http://schemas.microsoft.com/office/powerpoint/2010/main" val="4544748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5" name="Freeform 5"/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>
            <a:off x="14844934" y="732646"/>
            <a:ext cx="2767824" cy="2737630"/>
          </a:xfrm>
          <a:custGeom>
            <a:avLst/>
            <a:gdLst/>
            <a:ahLst/>
            <a:cxnLst/>
            <a:rect l="l" t="t" r="r" b="b"/>
            <a:pathLst>
              <a:path w="2767824" h="2737630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Freeform 7"/>
          <p:cNvSpPr/>
          <p:nvPr/>
        </p:nvSpPr>
        <p:spPr>
          <a:xfrm rot="-10800000">
            <a:off x="644447" y="7027759"/>
            <a:ext cx="2753631" cy="2723591"/>
          </a:xfrm>
          <a:custGeom>
            <a:avLst/>
            <a:gdLst/>
            <a:ahLst/>
            <a:cxnLst/>
            <a:rect l="l" t="t" r="r" b="b"/>
            <a:pathLst>
              <a:path w="2753631" h="272359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3132093" y="3260726"/>
            <a:ext cx="12023813" cy="188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THANK YOU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/>
              <a:t>Additional Supporting Paper Connected to AutoNAS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Title: Heart Disease Prediction using Machine Learning Algorithms</a:t>
            </a:r>
          </a:p>
          <a:p>
            <a:r>
              <a:rPr sz="1400"/>
              <a:t>Authors: Mandavalli Sathi Ekambareesh, Kantipudi Budda Vara Prasad (2024)</a:t>
            </a:r>
          </a:p>
          <a:p>
            <a:r>
              <a:rPr sz="1400"/>
              <a:t>Source: International Journal of Multidisciplinary Research in Science, Engineering and Technology (IJMRSET), Vol. 7, Issue 9</a:t>
            </a:r>
          </a:p>
          <a:p>
            <a:r>
              <a:rPr sz="1400"/>
              <a:t>DOI: 10.15680/IJMRSET.2024.0709023 | PDF: 16_Ekambareesh_2024_Heart_ML_Algorithms.pdf</a:t>
            </a:r>
          </a:p>
          <a:p/>
          <a:p>
            <a:r>
              <a:rPr sz="1600" b="1"/>
              <a:t>Project Connection (AutoNAS):</a:t>
            </a:r>
          </a:p>
          <a:p>
            <a:r>
              <a:rPr sz="1300"/>
              <a:t>• Directly supports AutoNAS baseline benchmarking on the same heart disease problem; provides classical-ML reference points that AutoNAS is designed to outperform with automated architecture search.</a:t>
            </a:r>
          </a:p>
          <a:p/>
          <a:p>
            <a:r>
              <a:rPr sz="1600" b="1"/>
              <a:t>Key Result:</a:t>
            </a:r>
          </a:p>
          <a:p>
            <a:r>
              <a:rPr sz="1300"/>
              <a:t>• Best reported model: Gradient Boosting with 88.5%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1618</TotalTime>
  <Words>4205</Words>
  <Application>Microsoft Office PowerPoint</Application>
  <PresentationFormat>Custom</PresentationFormat>
  <Paragraphs>697</Paragraphs>
  <Slides>47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and Beige Minimalist Professional Presentation</dc:title>
  <cp:lastModifiedBy>Sanjai Satheesh</cp:lastModifiedBy>
  <cp:revision>37</cp:revision>
  <dcterms:created xsi:type="dcterms:W3CDTF">2006-08-16T00:00:00Z</dcterms:created>
  <dcterms:modified xsi:type="dcterms:W3CDTF">2026-04-19T19:13:22Z</dcterms:modified>
  <dc:identifier>DAHBLNe4Yho</dc:identifier>
</cp:coreProperties>
</file>