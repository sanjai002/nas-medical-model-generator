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8" r:id="rId1"/>
  </p:sldMasterIdLst>
  <p:notesMasterIdLst>
    <p:notesMasterId r:id="rId52"/>
  </p:notesMasterIdLst>
  <p:handoutMasterIdLst>
    <p:handoutMasterId r:id="rId53"/>
  </p:handoutMasterIdLst>
  <p:sldIdLst>
    <p:sldId id="256" r:id="rId2"/>
    <p:sldId id="257" r:id="rId3"/>
    <p:sldId id="277" r:id="rId4"/>
    <p:sldId id="259" r:id="rId5"/>
    <p:sldId id="282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267" r:id="rId21"/>
    <p:sldId id="260" r:id="rId22"/>
    <p:sldId id="269" r:id="rId23"/>
    <p:sldId id="293" r:id="rId24"/>
    <p:sldId id="268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5" r:id="rId36"/>
    <p:sldId id="315" r:id="rId37"/>
    <p:sldId id="316" r:id="rId38"/>
    <p:sldId id="317" r:id="rId39"/>
    <p:sldId id="318" r:id="rId40"/>
    <p:sldId id="319" r:id="rId41"/>
    <p:sldId id="320" r:id="rId42"/>
    <p:sldId id="321" r:id="rId43"/>
    <p:sldId id="297" r:id="rId44"/>
    <p:sldId id="323" r:id="rId45"/>
    <p:sldId id="298" r:id="rId46"/>
    <p:sldId id="322" r:id="rId47"/>
    <p:sldId id="296" r:id="rId48"/>
    <p:sldId id="278" r:id="rId49"/>
    <p:sldId id="279" r:id="rId50"/>
    <p:sldId id="265" r:id="rId51"/>
  </p:sldIdLst>
  <p:sldSz cx="18288000" cy="10287000"/>
  <p:notesSz cx="6858000" cy="9144000"/>
  <p:embeddedFontLst>
    <p:embeddedFont>
      <p:font typeface="Abril Fatface" panose="02000503000000020003" pitchFamily="2" charset="0"/>
      <p:regular r:id="rId54"/>
    </p:embeddedFont>
    <p:embeddedFont>
      <p:font typeface="Merriweather" panose="00000500000000000000" pitchFamily="2" charset="0"/>
      <p:regular r:id="rId55"/>
      <p:bold r:id="rId56"/>
      <p:italic r:id="rId57"/>
      <p:boldItalic r:id="rId5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22" autoAdjust="0"/>
  </p:normalViewPr>
  <p:slideViewPr>
    <p:cSldViewPr>
      <p:cViewPr varScale="1">
        <p:scale>
          <a:sx n="54" d="100"/>
          <a:sy n="54" d="100"/>
        </p:scale>
        <p:origin x="533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font" Target="fonts/font5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800C1A-9940-432B-4583-0F716FE3D8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7133E2-1DCA-E54E-6173-77662C582C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39E63D-A9C1-466C-8FDC-E8C0ECD1ACDB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2199D-032A-856F-931E-C9B0DB3C1E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0436E-9ECE-7C1B-3E0C-349C58DD28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ECB77-9046-448B-8035-09EE5416E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40055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EF6FF-0A45-4D72-8C5B-583DBB8BD78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843CB2-1804-4822-B277-8D7FB49C9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4604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43CB2-1804-4822-B277-8D7FB49C900A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000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9420-4DF5-8048-DFC4-F7BE4E29D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032F5-234A-A05E-C8D2-1B89459F8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DBAD6-3A54-419A-B732-979DEAE28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FEB65-9DC0-4FA9-8334-F997BF3FEC80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2C26F-8E98-4BFD-ACFB-BC871EDC9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6BC1A-717C-88DE-5FC7-C07D0D744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68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7F3A6-DAEE-623C-7941-6BD819E23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F2DB0-9752-CCF4-C3EF-5F148BB1E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2D69C-ED26-80F0-A10B-9C3A43EDD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21AED-3C77-48F6-8BDD-A91A84BD3E4C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DF0A9-FC40-B3BB-6745-CAFC2F0BA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F6BAB-3B20-D9A6-4403-C5954D1D9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126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5868D-6DFA-BAE3-0DA6-0BC36F479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E88EE-673B-18A9-DC14-B40F2F9CA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39834-F1F5-409F-7DE7-233E8AD0F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2079-84B7-4588-B549-1E31B3E00C03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5FFAD-55E6-3FF7-CDF1-06E384D1B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A5324-A337-6383-2A13-D8D3E061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61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77A98-7588-3A12-FFD7-B3D596206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36A62-E7D8-8749-1E93-452D64C762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47C118-A7E1-9CBA-EC77-6D0125429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039AF-82B1-39E3-7148-C49E3BA8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17F3-4E60-449D-A987-6EE286271B1C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ED7D3-F85B-1BDE-BE4B-6EC4C0444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19AB7-216A-4CA0-59D4-C55D2E67F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6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13E6B-24BE-87CB-E0C1-59FF5FAED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0AF3F-8BAB-A821-84DE-4C0AD29B6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AB38E-C107-F8EE-1627-EE7B878CE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F93854-844E-3130-EC00-3EC0D4DBC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DA0DF-0F55-B0F3-452C-BC4C06831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1B3394-4889-2A98-C670-A8E64860F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319BA-6636-4537-84E6-3D0429E50EA0}" type="datetime1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423B5F-A74E-E71F-C992-9BD5D19D6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9D36EC-536C-424A-8B6E-1F8BFBEC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14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683C2-4E8B-7706-5C51-5044C65A2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5B2121-0EDE-21F7-AA11-5C5EBF10C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51CDE-B8FE-4DA6-91F2-678668A467D1}" type="datetime1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F4E089-33AC-CE21-7336-5A448DCA9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27DEC-FF61-89C7-E8B9-953AF5CE0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00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62D77C-9590-F220-B6DD-600602094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A836F-499B-4A01-B262-238E71FD469C}" type="datetime1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6D72F-FF39-B818-F563-64476B317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8A567-BA21-EFD0-39E4-D99C06F46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519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B4475-7B4C-CED8-EB6F-116014E5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7EDDA-3485-120E-B6A3-648D10749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2F8DB-6BDA-39EC-894F-80341DC03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6BAED-476A-EF30-CC08-4BB582B42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037F7-0A14-4BAB-993C-4A0581C675A0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BB9CD-3079-CC9D-AC27-0DA074FA9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072F6B-0A1A-B360-512B-04F81F7F1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281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F76CB-A9E4-3E7A-0294-D9D3E7DA6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71466A-2D85-4D76-D950-E04BD88C93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7F5EA-23F1-3724-7C6F-BAE013677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A7D93-F7EF-6C41-4136-3CA8817FB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0AE-CA37-4738-9459-CBE4568D184D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78750-10FC-E496-8CC2-982CB06C4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8B586-7480-724C-583C-575FB0AC2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6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0505F-1A32-F075-EE24-441E1A2E3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EDCA1-74F8-B2BE-95A2-3DC884E5F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A43BB-C2B0-AEFC-FAB8-D2755B510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9093B-91CB-4EC9-AC41-ADF1E972B063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39A9-2DE0-503D-20CB-FA4D90683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79F1D-E2A9-1A3B-346A-134104A6C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453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012B85-D553-3B72-C64C-3DBE8D1811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EA219D-C856-8820-838B-70B8CDF0A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AFE27-B70B-5209-5675-120C3068C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986B5-EC8C-4F04-884E-36ADB940920B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32F90-C437-BDBE-A1A9-AE4A6FCFE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8E8D2-D340-956E-AFDC-A1921E74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76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CEE0DB-64D5-A058-0620-861807791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284DC-A0A4-DC6A-130D-AF574BE55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02AC4-8050-6B4B-A867-B4D5FDC64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CE11D-F6B3-4184-8D65-B615BACF0E22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21140-2580-CAD8-D31B-DF521D4AF6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B3F67-C689-6C6C-4E2C-37D80CD48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17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B66F583-B4E0-CED4-5D95-67B1A145A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965" y="928655"/>
            <a:ext cx="16541596" cy="8565177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 rot="5400000">
            <a:off x="-1664294" y="2906886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9284" y="536638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5400000">
            <a:off x="15269321" y="7123585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12925742" y="9493834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501578" y="2643191"/>
            <a:ext cx="10231834" cy="3078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9"/>
              </a:lnSpc>
            </a:pPr>
            <a:r>
              <a:rPr lang="en-US" sz="4378" dirty="0">
                <a:solidFill>
                  <a:schemeClr val="tx1">
                    <a:lumMod val="95000"/>
                    <a:lumOff val="5000"/>
                  </a:schemeClr>
                </a:solidFill>
                <a:latin typeface="Abril Fatface"/>
                <a:ea typeface="Abril Fatface"/>
                <a:cs typeface="Abril Fatface"/>
                <a:sym typeface="Abril Fatface"/>
              </a:rPr>
              <a:t>AUTONAS</a:t>
            </a:r>
          </a:p>
          <a:p>
            <a:pPr algn="ctr">
              <a:lnSpc>
                <a:spcPts val="6129"/>
              </a:lnSpc>
              <a:spcBef>
                <a:spcPct val="0"/>
              </a:spcBef>
            </a:pPr>
            <a:r>
              <a:rPr lang="en-US" sz="4378" dirty="0">
                <a:solidFill>
                  <a:schemeClr val="tx1">
                    <a:lumMod val="95000"/>
                    <a:lumOff val="5000"/>
                  </a:schemeClr>
                </a:solidFill>
                <a:latin typeface="Abril Fatface"/>
                <a:ea typeface="Abril Fatface"/>
                <a:cs typeface="Abril Fatface"/>
                <a:sym typeface="Abril Fatface"/>
              </a:rPr>
              <a:t>A NEURAL ARCHITECTURE SEARCH–BASED MODEL SELECTION SYSTEM</a:t>
            </a:r>
          </a:p>
          <a:p>
            <a:pPr algn="ctr">
              <a:lnSpc>
                <a:spcPts val="6129"/>
              </a:lnSpc>
              <a:spcBef>
                <a:spcPct val="0"/>
              </a:spcBef>
            </a:pPr>
            <a:r>
              <a:rPr lang="en-US" sz="4378" dirty="0">
                <a:solidFill>
                  <a:schemeClr val="tx1">
                    <a:lumMod val="95000"/>
                    <a:lumOff val="5000"/>
                  </a:schemeClr>
                </a:solidFill>
                <a:latin typeface="Abril Fatface"/>
                <a:ea typeface="Abril Fatface"/>
                <a:cs typeface="Abril Fatface"/>
                <a:sym typeface="Abril Fatface"/>
              </a:rPr>
              <a:t>FOR HEART DISEASE PREDICTION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549383" y="7108545"/>
            <a:ext cx="4368057" cy="2359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7"/>
              </a:lnSpc>
            </a:pPr>
            <a:r>
              <a:rPr lang="en-US" sz="2191" dirty="0">
                <a:solidFill>
                  <a:schemeClr val="tx1">
                    <a:lumMod val="95000"/>
                    <a:lumOff val="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Submitted by :</a:t>
            </a:r>
          </a:p>
          <a:p>
            <a:pPr algn="ctr">
              <a:lnSpc>
                <a:spcPts val="3067"/>
              </a:lnSpc>
            </a:pPr>
            <a:r>
              <a:rPr lang="en-US" sz="2191" dirty="0">
                <a:solidFill>
                  <a:schemeClr val="tx1">
                    <a:lumMod val="95000"/>
                    <a:lumOff val="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    Nanditha S</a:t>
            </a:r>
          </a:p>
          <a:p>
            <a:pPr algn="ctr">
              <a:lnSpc>
                <a:spcPts val="3067"/>
              </a:lnSpc>
            </a:pPr>
            <a:r>
              <a:rPr lang="en-US" sz="2191" dirty="0">
                <a:solidFill>
                  <a:schemeClr val="tx1">
                    <a:lumMod val="95000"/>
                    <a:lumOff val="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          LBT25CSCE03</a:t>
            </a:r>
          </a:p>
          <a:p>
            <a:pPr algn="ctr">
              <a:lnSpc>
                <a:spcPts val="3067"/>
              </a:lnSpc>
            </a:pPr>
            <a:r>
              <a:rPr lang="en-US" sz="2191" dirty="0">
                <a:solidFill>
                  <a:schemeClr val="tx1">
                    <a:lumMod val="95000"/>
                    <a:lumOff val="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M2 CSE</a:t>
            </a:r>
          </a:p>
          <a:p>
            <a:pPr algn="ctr">
              <a:lnSpc>
                <a:spcPts val="3067"/>
              </a:lnSpc>
            </a:pPr>
            <a:r>
              <a:rPr lang="en-US" sz="2191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</a:t>
            </a:r>
          </a:p>
          <a:p>
            <a:pPr algn="ctr">
              <a:lnSpc>
                <a:spcPts val="3067"/>
              </a:lnSpc>
              <a:spcBef>
                <a:spcPct val="0"/>
              </a:spcBef>
            </a:pPr>
            <a:endParaRPr lang="en-US" sz="2191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67981" y="7271968"/>
            <a:ext cx="3556419" cy="11664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67"/>
              </a:lnSpc>
            </a:pPr>
            <a:r>
              <a:rPr lang="en-US" sz="2191" dirty="0">
                <a:solidFill>
                  <a:schemeClr val="tx1">
                    <a:lumMod val="95000"/>
                    <a:lumOff val="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Guided by:</a:t>
            </a:r>
          </a:p>
          <a:p>
            <a:pPr algn="ctr">
              <a:lnSpc>
                <a:spcPts val="3067"/>
              </a:lnSpc>
            </a:pPr>
            <a:r>
              <a:rPr lang="en-US" sz="2191" dirty="0">
                <a:solidFill>
                  <a:schemeClr val="tx1">
                    <a:lumMod val="95000"/>
                    <a:lumOff val="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Dr. Smitha E S</a:t>
            </a:r>
          </a:p>
          <a:p>
            <a:pPr algn="ctr">
              <a:lnSpc>
                <a:spcPts val="3067"/>
              </a:lnSpc>
              <a:spcBef>
                <a:spcPct val="0"/>
              </a:spcBef>
            </a:pPr>
            <a:r>
              <a:rPr lang="en-US" sz="2191" dirty="0">
                <a:solidFill>
                  <a:schemeClr val="tx1">
                    <a:lumMod val="95000"/>
                    <a:lumOff val="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Prof. Janisha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444842" y="8000492"/>
            <a:ext cx="1794663" cy="1976873"/>
          </a:xfrm>
          <a:custGeom>
            <a:avLst/>
            <a:gdLst/>
            <a:ahLst/>
            <a:cxnLst/>
            <a:rect l="l" t="t" r="r" b="b"/>
            <a:pathLst>
              <a:path w="2504321" h="2477001">
                <a:moveTo>
                  <a:pt x="0" y="0"/>
                </a:moveTo>
                <a:lnTo>
                  <a:pt x="2504321" y="0"/>
                </a:lnTo>
                <a:lnTo>
                  <a:pt x="2504321" y="2477001"/>
                </a:lnTo>
                <a:lnTo>
                  <a:pt x="0" y="247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657600" y="495300"/>
            <a:ext cx="11506200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TABLE OF CONTENTS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34200" y="2324100"/>
            <a:ext cx="4953000" cy="8563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MOTIVATION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LITERATURE REVIEW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RESEARCH GAPS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OBJECTIVE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ARCHITECTURE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TECHNOLOGY USED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IMPLEMENTATION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INTERIM RESULTS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PLAN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</a:p>
          <a:p>
            <a:pPr marL="342900" indent="-342900" algn="just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REFERENCES</a:t>
            </a:r>
          </a:p>
          <a:p>
            <a:pPr marL="342900" indent="-3429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342900" indent="-3429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342900" indent="-3429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EEC01-5845-9A3E-97A9-5965995CE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935F5E7B-F2BA-A112-72B3-BC3D2A4210FB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1D24143-893C-EA51-31E4-078EA0C1740A}"/>
              </a:ext>
            </a:extLst>
          </p:cNvPr>
          <p:cNvSpPr/>
          <p:nvPr/>
        </p:nvSpPr>
        <p:spPr>
          <a:xfrm rot="-10800000">
            <a:off x="444842" y="8000492"/>
            <a:ext cx="1794663" cy="1976873"/>
          </a:xfrm>
          <a:custGeom>
            <a:avLst/>
            <a:gdLst/>
            <a:ahLst/>
            <a:cxnLst/>
            <a:rect l="l" t="t" r="r" b="b"/>
            <a:pathLst>
              <a:path w="2504321" h="2477001">
                <a:moveTo>
                  <a:pt x="0" y="0"/>
                </a:moveTo>
                <a:lnTo>
                  <a:pt x="2504321" y="0"/>
                </a:lnTo>
                <a:lnTo>
                  <a:pt x="2504321" y="2477001"/>
                </a:lnTo>
                <a:lnTo>
                  <a:pt x="0" y="247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0CC24ED-59A3-F964-B47A-D673B223441E}"/>
              </a:ext>
            </a:extLst>
          </p:cNvPr>
          <p:cNvSpPr txBox="1"/>
          <p:nvPr/>
        </p:nvSpPr>
        <p:spPr>
          <a:xfrm>
            <a:off x="3657600" y="49530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INTRODUCTION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57D35C3-748D-350E-4E00-347B2E6243B8}"/>
              </a:ext>
            </a:extLst>
          </p:cNvPr>
          <p:cNvSpPr txBox="1"/>
          <p:nvPr/>
        </p:nvSpPr>
        <p:spPr>
          <a:xfrm>
            <a:off x="1524000" y="2095500"/>
            <a:ext cx="15697200" cy="74860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Heart disease is a major cause of death worldwide, and early detection helps reduce mortality rates.</a:t>
            </a:r>
          </a:p>
          <a:p>
            <a:pPr marL="342900" indent="-3429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Coronary Artery Disease (CAD) occurs when heart blood vessels are narrowed or blocked due to plaque buildup, increasing the risk of heart attack.</a:t>
            </a:r>
          </a:p>
          <a:p>
            <a:pPr marL="342900" indent="-3429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Traditional diagnosis methods include ECG, blood tests, stress tests, and angiography, which require expert interpretation.</a:t>
            </a:r>
          </a:p>
          <a:p>
            <a:pPr marL="342900" indent="-3429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These conventional methods may fail to detect complex patterns in patient data.</a:t>
            </a:r>
          </a:p>
          <a:p>
            <a:pPr marL="342900" indent="-3429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Machine learning helps analyze large medical datasets and identify hidden patterns for better diagnosis.</a:t>
            </a:r>
          </a:p>
          <a:p>
            <a:pPr marL="342900" indent="-3429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Common algorithms used are Logistic Regression, Decision Tree, Support Vector Machine, Random Forest, and Artificial Neural Networks, but they require manual design and tuning.</a:t>
            </a:r>
          </a:p>
          <a:p>
            <a:pPr marL="342900" indent="-3429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Deep learning models can capture complex relationships, but designing the best architecture is difficult and needs expert knowledge.</a:t>
            </a:r>
          </a:p>
          <a:p>
            <a:pPr marL="342900" indent="-342900">
              <a:lnSpc>
                <a:spcPts val="4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Neural Architecture Search (NAS) automatically designs optimized neural networks, improving accuracy and performance using datasets like the Cleveland Heart Disease Dataset.</a:t>
            </a:r>
          </a:p>
        </p:txBody>
      </p:sp>
    </p:spTree>
    <p:extLst>
      <p:ext uri="{BB962C8B-B14F-4D97-AF65-F5344CB8AC3E}">
        <p14:creationId xmlns:p14="http://schemas.microsoft.com/office/powerpoint/2010/main" val="1045367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-1294784" y="7609770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647867" y="34290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MOTIVATION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28800" y="1749424"/>
            <a:ext cx="14326541" cy="7457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21" lvl="1" indent="-302261">
              <a:lnSpc>
                <a:spcPts val="3920"/>
              </a:lnSpc>
              <a:buFont typeface="Arial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Heart disease prediction is an important area in biomedical engineering and artificial intelligence, helping doctors make faster and more reliable decisions.</a:t>
            </a:r>
          </a:p>
          <a:p>
            <a:pPr marL="604521" lvl="1" indent="-302261">
              <a:lnSpc>
                <a:spcPts val="3920"/>
              </a:lnSpc>
              <a:buFont typeface="Arial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Traditional diagnosis methods mainly depend on doctor experience, manual interpretation, and basic statistical models.</a:t>
            </a:r>
          </a:p>
          <a:p>
            <a:pPr marL="604521" lvl="1" indent="-302261">
              <a:lnSpc>
                <a:spcPts val="3920"/>
              </a:lnSpc>
              <a:buFont typeface="Arial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These traditional approaches may not always provide accurate or consistent results.</a:t>
            </a:r>
          </a:p>
          <a:p>
            <a:pPr marL="604521" lvl="1" indent="-302261">
              <a:lnSpc>
                <a:spcPts val="3920"/>
              </a:lnSpc>
              <a:buFont typeface="Arial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Machine learning improves prediction by analyzing data, but it requires manual feature selection and model tuning.</a:t>
            </a:r>
          </a:p>
          <a:p>
            <a:pPr marL="604521" lvl="1" indent="-302261">
              <a:lnSpc>
                <a:spcPts val="3920"/>
              </a:lnSpc>
              <a:buFont typeface="Arial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Different machine learning models can produce different results and may not guarantee the best architecture.</a:t>
            </a:r>
          </a:p>
          <a:p>
            <a:pPr marL="604521" lvl="1" indent="-302261">
              <a:lnSpc>
                <a:spcPts val="3920"/>
              </a:lnSpc>
              <a:buFont typeface="Arial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Deep learning gives better performance but is difficult to design, as choosing layers, neurons, and activation functions involves trial-and-error and is time-consuming.</a:t>
            </a:r>
          </a:p>
          <a:p>
            <a:pPr marL="604521" lvl="1" indent="-302261">
              <a:lnSpc>
                <a:spcPts val="3920"/>
              </a:lnSpc>
              <a:buFont typeface="Arial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Neural Architecture Search (NAS) automatically finds the best neural network structure without manual effort.</a:t>
            </a:r>
          </a:p>
          <a:p>
            <a:pPr marL="604521" lvl="1" indent="-302261">
              <a:lnSpc>
                <a:spcPts val="3920"/>
              </a:lnSpc>
              <a:buFont typeface="Arial"/>
              <a:buChar char="•"/>
            </a:pPr>
            <a:r>
              <a:rPr lang="en-US" sz="24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NAS offers advantages like higher accuracy, less human effort, better generalization, and is suitable for medical data, making it ideal for heart disease prediction systems.</a:t>
            </a: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3A3CCE8C-F66B-2743-31F0-486D9131BFFC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358050"/>
              </p:ext>
            </p:extLst>
          </p:nvPr>
        </p:nvGraphicFramePr>
        <p:xfrm>
          <a:off x="914400" y="1866900"/>
          <a:ext cx="16459200" cy="8087614"/>
        </p:xfrm>
        <a:graphic>
          <a:graphicData uri="http://schemas.openxmlformats.org/drawingml/2006/table">
            <a:tbl>
              <a:tblPr/>
              <a:tblGrid>
                <a:gridCol w="5587999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5130800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5740401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4343400">
                <a:tc rowSpan="3"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International Application of a New Probability Algorithm for the Diagnosis of Coronary Artery Disease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AUTHOR: R. Detrano et al.  Date: 1989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SOURCE: American Journal of Cardiology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ABSTRACT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Early computer-based diagnostic system for CAD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Probability-based algorithm using clinical parameters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Parameters: age, sex, chest pain, BP, cholesterol, ECG, heart rate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Introduced the Cleveland Heart Disease Dataset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Simple and interpretable statistical model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Introduced the standard Cleveland benchmark dataset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Widely reproducible across clinical sites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2068536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Datasets Used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Cleveland Heart Disease Dataset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DISADVANTAGES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Uses statistical probability only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Cannot learn complex nonlinear feature relationships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Limited predictive accuracy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256505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Final Result / Accuracy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Moderate accuracy (~77%) on Cleveland dataset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131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669196"/>
              </p:ext>
            </p:extLst>
          </p:nvPr>
        </p:nvGraphicFramePr>
        <p:xfrm>
          <a:off x="878731" y="1685703"/>
          <a:ext cx="16530537" cy="8359521"/>
        </p:xfrm>
        <a:graphic>
          <a:graphicData uri="http://schemas.openxmlformats.org/drawingml/2006/table">
            <a:tbl>
              <a:tblPr/>
              <a:tblGrid>
                <a:gridCol w="5510179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5510179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5510179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3783974">
                <a:tc rowSpan="3"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2"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Heart Disease Prediction Using Machine Learning Algorithms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AUTHOR: H. Chen, Y. Zhang, Z. Liu  Date: 2019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SOURCE: IEEE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ABSTRACT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Proposed a system using Decision Tree, SVM, Naive Bayes, Random Forest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Preprocessing: normalization and feature selection applied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Random Forest achieved best performance due to nonlinear handling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Multiple ML models systematically compared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Multiple ML models benchmarked in one study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Feature selection improves prediction accuracy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Random Forest handles nonlinear relationships well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2419731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Datasets Used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Cleveland Heart Disease Dataset (UCI)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DISADVANTAGES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Manual selection of parameters and features required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System depends on human expertise for tuning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No automatic model design or NAS used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055488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Final Result / Accuracy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~85% accuracy achieved by Random Forest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069393"/>
              </p:ext>
            </p:extLst>
          </p:nvPr>
        </p:nvGraphicFramePr>
        <p:xfrm>
          <a:off x="914400" y="1866900"/>
          <a:ext cx="16459200" cy="7992914"/>
        </p:xfrm>
        <a:graphic>
          <a:graphicData uri="http://schemas.openxmlformats.org/drawingml/2006/table">
            <a:tbl>
              <a:tblPr/>
              <a:tblGrid>
                <a:gridCol w="5218749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5449251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3408042">
                <a:tc rowSpan="3"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3"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Heart Disease Prediction Using Deep Neural Networks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AUTHOR: S. Khan, M. Alotaibi  Date: 2020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SOURCE: Computers in Biology and Medicine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ABSTRACT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Deep neural network (DNN) applied for heart disease prediction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Multiple hidden layers with nonlinear activation functions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Higher accuracy than traditional ML models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Automatic feature extraction from medical parameters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Learns complex nonlinear patterns automatically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Outperforms traditional machine learning models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No manual feature engineering required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2090293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Datasets Used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Cleveland Heart Disease Dataset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DISADVANTAGES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Network architecture was manually designed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May not produce the optimal architecture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Requires substantial labeled training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505500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Final Result / Accuracy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~87% accuracy on Cleveland dataset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964587"/>
              </p:ext>
            </p:extLst>
          </p:nvPr>
        </p:nvGraphicFramePr>
        <p:xfrm>
          <a:off x="762000" y="1790700"/>
          <a:ext cx="16764000" cy="8361442"/>
        </p:xfrm>
        <a:graphic>
          <a:graphicData uri="http://schemas.openxmlformats.org/drawingml/2006/table">
            <a:tbl>
              <a:tblPr/>
              <a:tblGrid>
                <a:gridCol w="44958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5867401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6400799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3308756">
                <a:tc rowSpan="3"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4"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Neural Architecture Search with Reinforcement Learning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AUTHOR: Barret Zoph, Quoc V. Le  Date: 2017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SOURCE: ICLR 2017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ABSTRACT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Introduced Neural Architecture Search (NAS) using RL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A controller RNN generates and evaluates architectures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Best architecture selected automatically by the system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NAS-designed models outperform manually designed networks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Fully automatic neural network architecture generation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Demonstrated superior performance over manual design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Generalizes to language modeling and image tasks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2290898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Datasets Used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CIFAR-10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Penn Treebank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DISADVANTAGES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Extremely high computational cost (thousands of GPU hours)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Not practical for small or resource-limited projects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Primarily validated on CIFAR-10 and language tasks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959628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Final Result / Accuracy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~97.1% accuracy on CIFAR-10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454670"/>
              </p:ext>
            </p:extLst>
          </p:nvPr>
        </p:nvGraphicFramePr>
        <p:xfrm>
          <a:off x="685800" y="1685703"/>
          <a:ext cx="16764000" cy="8359521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4015326">
                <a:tc rowSpan="3"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5"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Neural Architecture Search: A Survey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AUTHOR: Thomas Elsken, Jan Hendrik Metzen, Frank Hutter  Date: 2019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SOURCE: Journal of Machine Learning Research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ABSTRACT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Comprehensive survey covering all major NAS components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Three key components: Search Space, Search Strategy, Performance Evaluation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NAS useful when optimal architecture is unknown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Reviews random, evolutionary, RL, and gradient-based NAS methods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Comprehensive overview of all NAS methods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Identifies best strategies for different problem types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Directly applicable to medical prediction tasks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2650329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Datasets Used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Various benchmark datasets (CIFAR-10, ImageNet)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DISADVANTAGES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Survey paper only – no new algorithm proposed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NAS methods reviewed are still computationally expensive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Limited focus on healthcare applications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345760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Final Result / Accuracy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N/A – Survey paper; summarizes state-of-the-art NAS results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473429"/>
              </p:ext>
            </p:extLst>
          </p:nvPr>
        </p:nvGraphicFramePr>
        <p:xfrm>
          <a:off x="838200" y="1704838"/>
          <a:ext cx="16916400" cy="8359521"/>
        </p:xfrm>
        <a:graphic>
          <a:graphicData uri="http://schemas.openxmlformats.org/drawingml/2006/table">
            <a:tbl>
              <a:tblPr/>
              <a:tblGrid>
                <a:gridCol w="47244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6985000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5207000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3471904">
                <a:tc rowSpan="3"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6"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AutoML for Healthcare Applications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AUTHOR: J. Liu, H. Li, L. Zhang  Date: 2021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SOURCE: IEEE Reviews in Biomedical Engineering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ABSTRACT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Discusses use of AutoML and NAS in healthcare prediction systems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Medical data contains complex nonlinear relationships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Manual model design is difficult for medical data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NAS can automatically generate better-performing neural networks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Removes need for manual model design in healthcare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Handles complex relationships in medical data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Better performance than manually designed models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2708405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Datasets Used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Various public healthcare and clinical datasets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DISADVANTAGES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High computational overhead for architecture search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Requires large labeled healthcare datasets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Limited real-world clinical deployment demonstrated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181408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Final Result / Accuracy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Improved accuracy over manual ML models in healthcare tasks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18890"/>
              </p:ext>
            </p:extLst>
          </p:nvPr>
        </p:nvGraphicFramePr>
        <p:xfrm>
          <a:off x="647699" y="1685703"/>
          <a:ext cx="16992601" cy="8408035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6511484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6366317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3749421">
                <a:tc rowSpan="3"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7"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UCI Machine Learning Repository: Heart Disease Dataset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AUTHOR: D. Dua, C. Graff  Date: 2019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SOURCE: UCI Machine Learning Repository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ABSTRACT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Standard benchmark dataset for heart disease prediction research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Contains 303 patient records with 14 clinical features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Features: age, sex, chest pain, BP, cholesterol, ECG, heart rate, etc.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Cleveland subset is most widely used in research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Publicly available and freely accessible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Widely used benchmark enabling fair comparison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Contains diverse and clinically relevant features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2714699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Datasets Used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Cleveland Heart Disease Dataset (303 samples, 14 features)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DISADVANTAGES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Small dataset (303 records) limits deep learning effectiveness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Limited to one hospital population (Cleveland Clinic)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May not generalize to broader global populations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378445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Final Result / Accuracy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N/A – Dataset paper; benchmark for heart disease prediction research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552413"/>
              </p:ext>
            </p:extLst>
          </p:nvPr>
        </p:nvGraphicFramePr>
        <p:xfrm>
          <a:off x="457200" y="1760060"/>
          <a:ext cx="17373600" cy="8359521"/>
        </p:xfrm>
        <a:graphic>
          <a:graphicData uri="http://schemas.openxmlformats.org/drawingml/2006/table">
            <a:tbl>
              <a:tblPr/>
              <a:tblGrid>
                <a:gridCol w="44196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6781800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4069240">
                <a:tc rowSpan="3"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8"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Deep Learning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AUTHOR: Ian Goodfellow, Yoshua Bengio, Aaron Courville  Date: 2016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SOURCE: MIT Press (Textbook)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ABSTRACT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Foundational textbook on deep learning theory and practice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Covers neural networks, backpropagation, and optimization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Explains how deep networks learn complex patterns from data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Provides mathematical foundation for modern AI systems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Comprehensive theoretical reference for deep learning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Covers all major deep learning concepts and techniques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Applicable to medical data prediction problems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1812269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Datasets Used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Standard benchmarks (MNIST, CIFAR) for illustrative examples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DISADVANTAGES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Theoretical textbook – no specific medical application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No experimental results on healthcare datasets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Does not address NAS or AutoML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268589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Final Result / Accuracy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N/A – Textbook; foundational reference for deep learning theory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435507"/>
              </p:ext>
            </p:extLst>
          </p:nvPr>
        </p:nvGraphicFramePr>
        <p:xfrm>
          <a:off x="914400" y="1760060"/>
          <a:ext cx="16916400" cy="8359521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6248400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3820222">
                <a:tc rowSpan="3"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9"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Deep Residual Learning for Image Recognition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AUTHOR: Kaiming He, Xiangyu Zhang, Shaoqing Ren, Jian Sun  Date: 2016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SOURCE: CVPR 2016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ABSTRACT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Introduced residual (skip) connections to train very deep networks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Architecture design strongly determines model performance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Proves better architectures consistently lead to better accuracy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Provides strong motivation and foundation for NAS research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Proves architecture choice is critical for performance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Residual connections enable very deep network training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Strong motivation and evidence supporting need for NAS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2730533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Datasets Used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ImageNet (1.2M images)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CIFAR-10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DISADVANTAGES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Manually designed architecture – not automatic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Primarily focused on image recognition, not medical data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Complex to implement and adapt for tabular medical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299933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Final Result / Accuracy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~96.7% on CIFAR-10; ~3.57% top-5 error on ImageNet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931166"/>
              </p:ext>
            </p:extLst>
          </p:nvPr>
        </p:nvGraphicFramePr>
        <p:xfrm>
          <a:off x="985733" y="1685703"/>
          <a:ext cx="16764000" cy="8359521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6129233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6062767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4038600">
                <a:tc rowSpan="3"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10"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Regularized Evolution for Image Classifier Architecture Search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AUTHOR: Esteban Real, Alok Aggarwal, Yanping Huang  Date: 2019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SOURCE: AAAI 2019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ABSTRACT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Proposed evolutionary algorithm for neural architecture search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Automatically generates and evaluates multiple architectures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Tournament selection with regularization prevents premature convergence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Automatic search outperforms manually designed architectures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Fully automated architecture generation using evolution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Outperforms manually designed networks consistently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Scalable evolutionary approach with regularization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2934944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Datasets Used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CIFAR-10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ImageNet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DISADVANTAGES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Very high computation cost – requires many GPU hours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Primarily designed for image classification tasks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Difficult to directly apply to small tabular medical datasets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926854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Final Result / Accuracy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~97.6% accuracy on CIFAR-10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552169"/>
              </p:ext>
            </p:extLst>
          </p:nvPr>
        </p:nvGraphicFramePr>
        <p:xfrm>
          <a:off x="609600" y="1685703"/>
          <a:ext cx="16992600" cy="8258397"/>
        </p:xfrm>
        <a:graphic>
          <a:graphicData uri="http://schemas.openxmlformats.org/drawingml/2006/table">
            <a:tbl>
              <a:tblPr/>
              <a:tblGrid>
                <a:gridCol w="37338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8113229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5145571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3521839">
                <a:tc rowSpan="3"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11"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Efficient Neural Architecture Search via Parameter Sharing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AUTHOR: H. Pham, M. Guan, B. Zoph  Date: 2018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SOURCE: ICML 2018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ABSTRACT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Proposed ENAS: faster NAS via shared parameters across child models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Reduces training cost by orders of magnitude over original NAS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Parameter sharing makes architecture search practical for real use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Controller learns to search using shared weights efficiently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Dramatically faster than original RL-based NAS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Parameter sharing reduces computation significantly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Practical for real-world architecture search tasks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2994343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Datasets Used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Penn Treebank (NLP)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CIFAR-10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DISADVANTAGES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Shared parameters may not reflect true individual model performance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Complex implementation of the weight-sharing scheme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Additional memory overhead for shared parameter storage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313783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Final Result / Accuracy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~97.11% accuracy on CIFAR-10 (2.89% error rate)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774578"/>
              </p:ext>
            </p:extLst>
          </p:nvPr>
        </p:nvGraphicFramePr>
        <p:xfrm>
          <a:off x="457200" y="1760060"/>
          <a:ext cx="17373600" cy="803164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7924800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3764440">
                <a:tc rowSpan="3"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12"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SNAS: Stochastic Neural Architecture Search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AUTHOR: S. Xie, H. Zheng, C. Liu  Date: 2019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SOURCE: ICLR 2019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ABSTRACT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Introduced gradient-based differentiable NAS using stochastic sampling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Faster and more efficient than reinforcement learning NAS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Reduces computation cost significantly over RL-based methods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Architecture parameters optimized jointly with network weights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Gradient-based search is much faster than RL or evolutionary NAS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Efficient use of computation through differentiable relaxation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End-to-end differentiable architecture optimization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1812269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Datasets Used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CIFAR-10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ImageNet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DISADVANTAGES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May get stuck in local optima during optimization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Sensitive to hyperparameter settings and learning rates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Potential architecture collapse during 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023493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Final Result / Accuracy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~97.02% accuracy on CIFAR-10 (2.98% error)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551797"/>
              </p:ext>
            </p:extLst>
          </p:nvPr>
        </p:nvGraphicFramePr>
        <p:xfrm>
          <a:off x="457200" y="1760060"/>
          <a:ext cx="17373600" cy="8359521"/>
        </p:xfrm>
        <a:graphic>
          <a:graphicData uri="http://schemas.openxmlformats.org/drawingml/2006/table">
            <a:tbl>
              <a:tblPr/>
              <a:tblGrid>
                <a:gridCol w="40386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3535840">
                <a:tc rowSpan="3"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13"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Deep Patient: An Unsupervised Representation for Predicting Patient Outcomes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AUTHOR: R. Miotto, L. Li, B. Kidd  Date: 2016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SOURCE: Scientific Reports (Nature)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ABSTRACT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Applied deep learning to Electronic Health Records (EHR)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Unsupervised deep feature learning for patient outcome prediction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Deep networks learn complex relationships in medical records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Learned representations generalize across diverse diseases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Learns rich patient representations from unlabeled medical data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Handles large and diverse electronic health records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Generalizes across multiple disease prediction tasks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1812269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Datasets Used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Electronic Health Records – ~700,000 patients (Mount Sinai Hospital)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DISADVANTAGES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Requires access to large hospital EHR databases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Black-box model limits clinical interpretation and trust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Difficult to explain predictions to medical practitioners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268589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Final Result / Accuracy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AUC ~0.773 on disease prediction; outperforms baseline models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431081"/>
              </p:ext>
            </p:extLst>
          </p:nvPr>
        </p:nvGraphicFramePr>
        <p:xfrm>
          <a:off x="457200" y="1760060"/>
          <a:ext cx="17373600" cy="8359521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7696200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3688240">
                <a:tc rowSpan="3"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14"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Deep Learning in Electronic Health Records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AUTHOR: B. Shickel, P. Tighe, A. Bihorac  Date: 2018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SOURCE: IEEE Journal of Biomedical and Health Informatics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ABSTRACT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Comprehensive review of deep learning for clinical prediction from EHR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Neural networks handle large and complex medical datasets effectively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Applications: mortality prediction, disease classification, clinical NLP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Identifies best DL architectures suited for healthcare tasks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Handles large-scale clinical datasets efficiently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High accuracy across multiple clinical prediction tasks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Automatic feature extraction removes manual engineering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1812269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Datasets Used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MIMIC-III ICU Database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Various EHR datasets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DISADVANTAGES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Requires very large amounts of labeled medical data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Interpretability challenges hinder clinical adoption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High computational and infrastructure requirements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268589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Final Result / Accuracy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~85-90% accuracy on mortality and disease prediction tasks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3F62-6906-8538-97BC-8B2CFFF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58426B8-A61A-82CF-ABBC-DAF1B33A60F1}"/>
              </a:ext>
            </a:extLst>
          </p:cNvPr>
          <p:cNvSpPr txBox="1"/>
          <p:nvPr/>
        </p:nvSpPr>
        <p:spPr>
          <a:xfrm>
            <a:off x="3647867" y="342900"/>
            <a:ext cx="11439733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FB706-7B58-15C5-53C3-77E2189CF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453043"/>
              </p:ext>
            </p:extLst>
          </p:nvPr>
        </p:nvGraphicFramePr>
        <p:xfrm>
          <a:off x="457200" y="1760060"/>
          <a:ext cx="17373600" cy="8359521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827771061"/>
                    </a:ext>
                  </a:extLst>
                </a:gridCol>
                <a:gridCol w="8077200">
                  <a:extLst>
                    <a:ext uri="{9D8B030D-6E8A-4147-A177-3AD203B41FA5}">
                      <a16:colId xmlns:a16="http://schemas.microsoft.com/office/drawing/2014/main" val="2665483920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664975635"/>
                    </a:ext>
                  </a:extLst>
                </a:gridCol>
              </a:tblGrid>
              <a:tr h="3612040">
                <a:tc rowSpan="3"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AutoNum type="arabicPeriod" startAt="15"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Cardiologist-Level Arrhythmia Detection with Deep Neural Networks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AUTHOR: P. Rajpurkar, J. Hannun, M. Haghpanahi  Date: 2017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2000" b="1" dirty="0">
                        <a:latin typeface="Merriweather" panose="00000500000000000000" pitchFamily="2" charset="0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SOURCE: arXiv (Stanford University)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ABSTRACT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CNN trained on 91,232 ECG recordings for arrhythmia detection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Achieved accuracy exceeding the average cardiologist benchmark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End-to-end learning directly from raw 1D ECG signal data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No manual feature engineering required – fully automated pipeline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Achieves cardiologist-level accuracy in medical diagnosis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End-to-end learning from raw ECG – no manual feature extraction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Proves deep neural networks are highly suitable for healthcare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7739"/>
                  </a:ext>
                </a:extLst>
              </a:tr>
              <a:tr h="1812269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Datasets Used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91,232 single-lead ECG recordings (Stanford Health Care)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2000" b="1" dirty="0">
                          <a:latin typeface="Merriweather" panose="00000500000000000000" pitchFamily="2" charset="0"/>
                        </a:rPr>
                        <a:t>DISADVANTAGES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Requires very large labeled ECG dataset for training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Deep network explainability is limited in clinical settings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Specific to arrhythmia – does not generalize to other conditions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915130"/>
                  </a:ext>
                </a:extLst>
              </a:tr>
              <a:tr h="1268589">
                <a:tc v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latin typeface="Merriweather" panose="00000500000000000000" pitchFamily="2" charset="0"/>
                        </a:rPr>
                        <a:t>Final Result / Accuracy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latin typeface="Merriweather" panose="00000500000000000000" pitchFamily="2" charset="0"/>
                        </a:rPr>
                        <a:t>• F1 score 0.837 – exceeds average cardiologist benchmark (0.780)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IN" sz="2000" b="1" dirty="0">
                        <a:latin typeface="Merriweather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21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3C234-A52C-372C-724C-8FEB769AC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D57FED5-EF46-B0B2-A745-312D4DFEFC49}"/>
              </a:ext>
            </a:extLst>
          </p:cNvPr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E5CE515-86FF-D0E4-9431-FB34A5BA9ECE}"/>
              </a:ext>
            </a:extLst>
          </p:cNvPr>
          <p:cNvSpPr/>
          <p:nvPr/>
        </p:nvSpPr>
        <p:spPr>
          <a:xfrm rot="-5400000">
            <a:off x="-1294784" y="7594275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9A7B224-A5C2-9B72-A0B7-42E20233D1D1}"/>
              </a:ext>
            </a:extLst>
          </p:cNvPr>
          <p:cNvSpPr txBox="1"/>
          <p:nvPr/>
        </p:nvSpPr>
        <p:spPr>
          <a:xfrm>
            <a:off x="3333078" y="800100"/>
            <a:ext cx="11621844" cy="1344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RESEARCH GAPS</a:t>
            </a:r>
            <a:endParaRPr lang="en-US" sz="8000" b="1" dirty="0">
              <a:solidFill>
                <a:srgbClr val="353534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2B437E9-BAFB-7C6B-7159-8EF699510917}"/>
              </a:ext>
            </a:extLst>
          </p:cNvPr>
          <p:cNvSpPr txBox="1"/>
          <p:nvPr/>
        </p:nvSpPr>
        <p:spPr>
          <a:xfrm>
            <a:off x="1835244" y="2792781"/>
            <a:ext cx="14617512" cy="6318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From previous studies, the following problems are identified:</a:t>
            </a:r>
          </a:p>
          <a:p>
            <a:pPr>
              <a:lnSpc>
                <a:spcPct val="115000"/>
              </a:lnSpc>
              <a:spcAft>
                <a:spcPts val="700"/>
              </a:spcAft>
              <a:buNone/>
            </a:pP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342900" lvl="0" indent="-342900">
              <a:lnSpc>
                <a:spcPct val="115000"/>
              </a:lnSpc>
              <a:spcAft>
                <a:spcPts val="700"/>
              </a:spcAft>
              <a:buFont typeface="+mj-lt"/>
              <a:buAutoNum type="arabicPeriod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Statistical models have low accuracy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342900" lvl="0" indent="-342900">
              <a:lnSpc>
                <a:spcPct val="115000"/>
              </a:lnSpc>
              <a:spcAft>
                <a:spcPts val="700"/>
              </a:spcAft>
              <a:buFont typeface="+mj-lt"/>
              <a:buAutoNum type="arabicPeriod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Machine learning requires manual tuning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342900" lvl="0" indent="-342900">
              <a:lnSpc>
                <a:spcPct val="115000"/>
              </a:lnSpc>
              <a:spcAft>
                <a:spcPts val="700"/>
              </a:spcAft>
              <a:buFont typeface="+mj-lt"/>
              <a:buAutoNum type="arabicPeriod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Deep learning architecture design is manual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342900" lvl="0" indent="-342900">
              <a:lnSpc>
                <a:spcPct val="115000"/>
              </a:lnSpc>
              <a:spcAft>
                <a:spcPts val="700"/>
              </a:spcAft>
              <a:buFont typeface="+mj-lt"/>
              <a:buAutoNum type="arabicPeriod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Different architectures give different results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342900" lvl="0" indent="-342900">
              <a:lnSpc>
                <a:spcPct val="115000"/>
              </a:lnSpc>
              <a:spcAft>
                <a:spcPts val="700"/>
              </a:spcAft>
              <a:buFont typeface="+mj-lt"/>
              <a:buAutoNum type="arabicPeriod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No guarantee of best model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342900" lvl="0" indent="-342900">
              <a:lnSpc>
                <a:spcPct val="115000"/>
              </a:lnSpc>
              <a:spcAft>
                <a:spcPts val="700"/>
              </a:spcAft>
              <a:buFont typeface="+mj-lt"/>
              <a:buAutoNum type="arabicPeriod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Limited use of NAS in heart disease prediction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342900" lvl="0" indent="-342900">
              <a:lnSpc>
                <a:spcPct val="115000"/>
              </a:lnSpc>
              <a:spcAft>
                <a:spcPts val="700"/>
              </a:spcAft>
              <a:buFont typeface="+mj-lt"/>
              <a:buAutoNum type="arabicPeriod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Need for automatic model generation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342900" lvl="0" indent="-342900">
              <a:lnSpc>
                <a:spcPct val="115000"/>
              </a:lnSpc>
              <a:spcAft>
                <a:spcPts val="700"/>
              </a:spcAft>
              <a:buFont typeface="+mj-lt"/>
              <a:buAutoNum type="arabicPeriod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Need for higher accuracy medical prediction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Therefore, NAS-based heart disease prediction is required.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AB83ED02-E351-9781-1CEC-3AC79D2136C4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034408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-1294784" y="7594275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770556" y="77159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OBJECTIVE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7244" y="2837665"/>
            <a:ext cx="8980079" cy="6228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lvl="0" indent="-514350">
              <a:lnSpc>
                <a:spcPct val="11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 Study existing heart disease prediction methods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514350" lvl="0" indent="-514350">
              <a:lnSpc>
                <a:spcPct val="11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 Use Cleveland dataset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514350" lvl="0" indent="-514350">
              <a:lnSpc>
                <a:spcPct val="11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 Implement ML models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514350" lvl="0" indent="-514350">
              <a:lnSpc>
                <a:spcPct val="11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 Implement deep learning model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514350" lvl="0" indent="-514350">
              <a:lnSpc>
                <a:spcPct val="11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 Apply Neural Architecture Search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514350" lvl="0" indent="-514350">
              <a:lnSpc>
                <a:spcPct val="11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 Generate automatic neural network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514350" lvl="0" indent="-514350">
              <a:lnSpc>
                <a:spcPct val="11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 Compare ML / DL / NAS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514350" lvl="0" indent="-514350">
              <a:lnSpc>
                <a:spcPct val="11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 Improve accuracy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514350" lvl="0" indent="-514350">
              <a:lnSpc>
                <a:spcPct val="11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 Develop automated system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  <a:p>
            <a:pPr marL="457200" lvl="0" indent="-457200">
              <a:lnSpc>
                <a:spcPct val="115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2800" kern="150" dirty="0">
                <a:effectLst/>
                <a:latin typeface="Merriweather" panose="00000500000000000000" pitchFamily="2" charset="0"/>
                <a:ea typeface="Noto Serif CJK SC"/>
                <a:cs typeface="FreeSans"/>
              </a:rPr>
              <a:t> Provide reliable prediction</a:t>
            </a:r>
            <a:endParaRPr lang="en-IN" sz="2800" kern="150" dirty="0">
              <a:effectLst/>
              <a:latin typeface="Merriweather" panose="00000500000000000000" pitchFamily="2" charset="0"/>
              <a:ea typeface="Noto Serif CJK SC"/>
              <a:cs typeface="FreeSans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3D096EAE-D46D-0560-C856-6B538BBD4A2A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7D9F9-6B87-811A-D943-8A32B374C5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0797" y="3086100"/>
            <a:ext cx="7303680" cy="484607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CC68E-4DD3-D983-B869-30F6CFEA6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72C1A74-F617-968F-51A0-8845C6077A9C}"/>
              </a:ext>
            </a:extLst>
          </p:cNvPr>
          <p:cNvSpPr/>
          <p:nvPr/>
        </p:nvSpPr>
        <p:spPr>
          <a:xfrm rot="5400000">
            <a:off x="-1664294" y="2906886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96EFCB4-B956-22C0-90C1-63E0990C632B}"/>
              </a:ext>
            </a:extLst>
          </p:cNvPr>
          <p:cNvSpPr/>
          <p:nvPr/>
        </p:nvSpPr>
        <p:spPr>
          <a:xfrm>
            <a:off x="679284" y="536638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D13B08E-9AF7-BAA6-97D0-95C21CBD5F16}"/>
              </a:ext>
            </a:extLst>
          </p:cNvPr>
          <p:cNvSpPr/>
          <p:nvPr/>
        </p:nvSpPr>
        <p:spPr>
          <a:xfrm rot="-5400000">
            <a:off x="15269321" y="7123585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56DD241-DBFA-8C8E-36EF-EED93AACDA7A}"/>
              </a:ext>
            </a:extLst>
          </p:cNvPr>
          <p:cNvSpPr/>
          <p:nvPr/>
        </p:nvSpPr>
        <p:spPr>
          <a:xfrm rot="-10800000">
            <a:off x="12925742" y="9493834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8ECAA7BE-3FEE-3A5B-6AF9-9D29DE0D8A1C}"/>
              </a:ext>
            </a:extLst>
          </p:cNvPr>
          <p:cNvSpPr txBox="1"/>
          <p:nvPr/>
        </p:nvSpPr>
        <p:spPr>
          <a:xfrm>
            <a:off x="2590800" y="717403"/>
            <a:ext cx="13487400" cy="27790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Abril Fatface"/>
                <a:ea typeface="Abril Fatface"/>
                <a:cs typeface="Abril Fatface"/>
                <a:sym typeface="Abril Fatface"/>
              </a:rPr>
              <a:t>SYSTEM ARCHITECTURE</a:t>
            </a:r>
          </a:p>
          <a:p>
            <a:pPr algn="ctr">
              <a:lnSpc>
                <a:spcPts val="11200"/>
              </a:lnSpc>
              <a:spcBef>
                <a:spcPct val="0"/>
              </a:spcBef>
            </a:pPr>
            <a:endParaRPr lang="en-US" sz="8000" dirty="0">
              <a:solidFill>
                <a:srgbClr val="353534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37D5FC-DB95-72B8-A429-D39DC79A7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2073767"/>
            <a:ext cx="7848600" cy="726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23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AECC8-1099-AAC8-165E-05E3CF6B9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0D512B-4216-658A-5B66-ACC34C442DF1}"/>
              </a:ext>
            </a:extLst>
          </p:cNvPr>
          <p:cNvSpPr/>
          <p:nvPr/>
        </p:nvSpPr>
        <p:spPr>
          <a:xfrm rot="5400000">
            <a:off x="-1664294" y="2906886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583850A-72D2-AA52-639F-07A81E5F39AD}"/>
              </a:ext>
            </a:extLst>
          </p:cNvPr>
          <p:cNvSpPr/>
          <p:nvPr/>
        </p:nvSpPr>
        <p:spPr>
          <a:xfrm>
            <a:off x="679284" y="536638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D67441D-5DD0-62AA-73C7-1882E4DCC326}"/>
              </a:ext>
            </a:extLst>
          </p:cNvPr>
          <p:cNvSpPr/>
          <p:nvPr/>
        </p:nvSpPr>
        <p:spPr>
          <a:xfrm rot="-5400000">
            <a:off x="15269321" y="7123585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99B2258-0DAA-FA1D-D6CF-69748DD97321}"/>
              </a:ext>
            </a:extLst>
          </p:cNvPr>
          <p:cNvSpPr/>
          <p:nvPr/>
        </p:nvSpPr>
        <p:spPr>
          <a:xfrm rot="-10800000">
            <a:off x="12925742" y="9493834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624E5D59-0C3E-1BF1-7745-4B273DA3968C}"/>
              </a:ext>
            </a:extLst>
          </p:cNvPr>
          <p:cNvSpPr txBox="1"/>
          <p:nvPr/>
        </p:nvSpPr>
        <p:spPr>
          <a:xfrm>
            <a:off x="3810000" y="928655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396F36-F2B8-569E-F2A1-26FD2A8DED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3362" y="2476500"/>
            <a:ext cx="132588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969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907A-10B3-BFD2-EB1F-A0CDBAEA5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966A2BB8-2F17-5C25-C4B5-A3EF2434FE34}"/>
              </a:ext>
            </a:extLst>
          </p:cNvPr>
          <p:cNvSpPr txBox="1"/>
          <p:nvPr/>
        </p:nvSpPr>
        <p:spPr>
          <a:xfrm>
            <a:off x="3429000" y="61375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FD4EA92-47C2-B5FD-6F09-E082A8AED754}"/>
              </a:ext>
            </a:extLst>
          </p:cNvPr>
          <p:cNvSpPr txBox="1"/>
          <p:nvPr/>
        </p:nvSpPr>
        <p:spPr>
          <a:xfrm>
            <a:off x="2286000" y="2637503"/>
            <a:ext cx="13716000" cy="4739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proposed system focuses on developing an automated heart disease prediction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It uses Neural Architecture Search (NAS) to design the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system automatically preprocesses medical data for better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It generates multiple neural network architectures instead of using a single fixed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Each generated model is trained using the given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performance of all models is evaluated and compared.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best-performing model is selected for final prediction.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complete process includes problem definition, data preprocessing, architecture search, model training, evaluation, and prediction.</a:t>
            </a: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93681C33-F2AF-2A73-E7D0-986CB1659E98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D646B5A0-E827-8A83-DC5D-05226A407DCD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957875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241A2-464C-54F9-E9C2-8878EFA71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3D94BFD3-6F21-6A48-CA49-0AB2061F9186}"/>
              </a:ext>
            </a:extLst>
          </p:cNvPr>
          <p:cNvSpPr txBox="1"/>
          <p:nvPr/>
        </p:nvSpPr>
        <p:spPr>
          <a:xfrm>
            <a:off x="3429000" y="29077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7AE1D9A-A6E8-6CA8-4A42-D5D3C3B73F9B}"/>
              </a:ext>
            </a:extLst>
          </p:cNvPr>
          <p:cNvSpPr txBox="1"/>
          <p:nvPr/>
        </p:nvSpPr>
        <p:spPr>
          <a:xfrm>
            <a:off x="2286000" y="1809373"/>
            <a:ext cx="14935200" cy="7325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buAutoNum type="arabicPeriod"/>
            </a:pPr>
            <a:r>
              <a:rPr lang="en-US" sz="2800" b="1" dirty="0">
                <a:latin typeface="Merriweather" panose="00000500000000000000" pitchFamily="2" charset="0"/>
              </a:rPr>
              <a:t>Problem Definition</a:t>
            </a:r>
          </a:p>
          <a:p>
            <a:pPr marL="514350" indent="-514350">
              <a:buAutoNum type="arabicPeriod"/>
            </a:pPr>
            <a:endParaRPr lang="en-US" sz="2800" b="1" dirty="0">
              <a:latin typeface="Merriweather" panose="000005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main goal of this project is to build a machine learning system to predict heart disease.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system uses patient medical data to make predictions.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This is a supervised learning problem where the model learns from labeled data.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model predicts whether a patient has heart disease or not.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latin typeface="Merriweather" panose="00000500000000000000" pitchFamily="2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Input features include</a:t>
            </a:r>
            <a:r>
              <a:rPr lang="en-US" sz="2800" dirty="0">
                <a:latin typeface="Merriweather" panose="00000500000000000000" pitchFamily="2" charset="0"/>
              </a:rPr>
              <a:t>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Age of the patient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Sex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Type of chest pain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Resting blood pressure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Cholesterol level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Fasting blood sugar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ECG results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Maximum heart rate achieved</a:t>
            </a: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3D3259D7-D0B8-96FF-DA1F-97407E9E5135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190BDB6F-52EE-5797-E567-281FDB22F1C8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6325D2-4764-328A-E7F3-5CECEC90877F}"/>
              </a:ext>
            </a:extLst>
          </p:cNvPr>
          <p:cNvSpPr txBox="1"/>
          <p:nvPr/>
        </p:nvSpPr>
        <p:spPr>
          <a:xfrm>
            <a:off x="9525000" y="5471914"/>
            <a:ext cx="73690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anose="00000500000000000000" pitchFamily="2" charset="0"/>
                <a:ea typeface="+mn-ea"/>
                <a:cs typeface="+mn-cs"/>
              </a:rPr>
              <a:t>Exercise-induced angina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anose="00000500000000000000" pitchFamily="2" charset="0"/>
                <a:ea typeface="+mn-ea"/>
                <a:cs typeface="+mn-cs"/>
              </a:rPr>
              <a:t>Oldpeak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anose="00000500000000000000" pitchFamily="2" charset="0"/>
                <a:ea typeface="+mn-ea"/>
                <a:cs typeface="+mn-cs"/>
              </a:rPr>
              <a:t> value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anose="00000500000000000000" pitchFamily="2" charset="0"/>
                <a:ea typeface="+mn-ea"/>
                <a:cs typeface="+mn-cs"/>
              </a:rPr>
              <a:t>Slope of ST segment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Merriweather" panose="00000500000000000000" pitchFamily="2" charset="0"/>
              </a:rPr>
              <a:t>Number of major Vessels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anose="00000500000000000000" pitchFamily="2" charset="0"/>
                <a:ea typeface="+mn-ea"/>
                <a:cs typeface="+mn-cs"/>
              </a:rPr>
              <a:t>Thalassemia</a:t>
            </a:r>
          </a:p>
        </p:txBody>
      </p:sp>
    </p:spTree>
    <p:extLst>
      <p:ext uri="{BB962C8B-B14F-4D97-AF65-F5344CB8AC3E}">
        <p14:creationId xmlns:p14="http://schemas.microsoft.com/office/powerpoint/2010/main" val="207545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7C83C-704F-02DF-5972-965655F5A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460B19EC-DEB7-AF6C-3CEE-90481C40F2FC}"/>
              </a:ext>
            </a:extLst>
          </p:cNvPr>
          <p:cNvSpPr txBox="1"/>
          <p:nvPr/>
        </p:nvSpPr>
        <p:spPr>
          <a:xfrm>
            <a:off x="3429000" y="29077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0171ABF-0E81-BB9E-29CC-DE132DB03209}"/>
              </a:ext>
            </a:extLst>
          </p:cNvPr>
          <p:cNvSpPr txBox="1"/>
          <p:nvPr/>
        </p:nvSpPr>
        <p:spPr>
          <a:xfrm>
            <a:off x="2286000" y="1809373"/>
            <a:ext cx="13716000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Output</a:t>
            </a:r>
            <a:r>
              <a:rPr lang="en-US" sz="2800" dirty="0">
                <a:latin typeface="Merriweather" panose="00000500000000000000" pitchFamily="2" charset="0"/>
              </a:rPr>
              <a:t>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0 means no heart disease.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1 means heart disease is present.</a:t>
            </a:r>
          </a:p>
          <a:p>
            <a:endParaRPr lang="en-US" sz="2800" dirty="0">
              <a:latin typeface="Merriweather" panose="00000500000000000000" pitchFamily="2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Evaluation metrics used: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Accuracy checks overall correctness.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Precision measures correct positive predictions.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Recall measures how many actual positives are foundF1-score balances. precision and recall.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Confusion matrix shows prediction results clearly.</a:t>
            </a:r>
            <a:endParaRPr lang="en-IN" sz="280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BDF1541-505A-563E-97AD-6C087BE5C2D0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74508636-F01F-B2E3-B310-F3696D9BE1CA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3876216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E6C8B-1E47-FFD2-E662-2C5F018A4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F44AECED-EC9E-1689-4F82-FFED82FEFFB0}"/>
              </a:ext>
            </a:extLst>
          </p:cNvPr>
          <p:cNvSpPr txBox="1"/>
          <p:nvPr/>
        </p:nvSpPr>
        <p:spPr>
          <a:xfrm>
            <a:off x="3429000" y="29077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D63769E-0CBD-833D-7C54-972C6335DC45}"/>
              </a:ext>
            </a:extLst>
          </p:cNvPr>
          <p:cNvSpPr txBox="1"/>
          <p:nvPr/>
        </p:nvSpPr>
        <p:spPr>
          <a:xfrm>
            <a:off x="2575561" y="1832233"/>
            <a:ext cx="14996159" cy="8186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Merriweather" panose="00000500000000000000" pitchFamily="2" charset="0"/>
              </a:rPr>
              <a:t>2. Data Collection and Preprocessing</a:t>
            </a:r>
          </a:p>
          <a:p>
            <a:endParaRPr lang="en-US" sz="2800" b="1" dirty="0">
              <a:latin typeface="Merriweather" panose="00000500000000000000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</a:t>
            </a:r>
            <a:r>
              <a:rPr lang="en-US" sz="2800" b="1" dirty="0">
                <a:latin typeface="Merriweather" panose="00000500000000000000" pitchFamily="2" charset="0"/>
              </a:rPr>
              <a:t> </a:t>
            </a:r>
            <a:r>
              <a:rPr lang="en-US" sz="2800" dirty="0">
                <a:latin typeface="Merriweather" panose="00000500000000000000" pitchFamily="2" charset="0"/>
              </a:rPr>
              <a:t>dataset can be collected from hospitals or public sources like Cleveland dataset.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Before training, data must be cleaned and prepared properly.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Merriweather" panose="00000500000000000000" pitchFamily="2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Data Validation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The dataset is checked for errors and correctness.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Missing values are identified.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Incorrect data types are corrected.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Empty columns are removed.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Target labels are verified.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Invalid data is removed to improve accuracy.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2800" dirty="0">
              <a:latin typeface="Merriweather" panose="00000500000000000000" pitchFamily="2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Merriweather" panose="00000500000000000000" pitchFamily="2" charset="0"/>
              </a:rPr>
              <a:t> </a:t>
            </a:r>
            <a:r>
              <a:rPr lang="en-US" sz="2800" i="1" dirty="0">
                <a:latin typeface="Merriweather" panose="00000500000000000000" pitchFamily="2" charset="0"/>
              </a:rPr>
              <a:t>Handling Missing Values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Missing numerical values are replaced with mean or median.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Missing categorical values are replaced with mode.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Rows with too many missing values are removed.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This step ensures complete and clean data.</a:t>
            </a:r>
            <a:endParaRPr lang="en-IN" sz="280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EA61D62-BB2D-A9A3-ECFB-AFD1A9E406CC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D11114D1-1747-4F07-551D-A8A43B7F4343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225990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DBFB9-ADE8-D878-6D5A-FD7776941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069E77EE-76F4-5EC1-A7BD-279E90A645E4}"/>
              </a:ext>
            </a:extLst>
          </p:cNvPr>
          <p:cNvSpPr txBox="1"/>
          <p:nvPr/>
        </p:nvSpPr>
        <p:spPr>
          <a:xfrm>
            <a:off x="3429000" y="29077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803B394-F893-0971-3054-BFBE2222891C}"/>
              </a:ext>
            </a:extLst>
          </p:cNvPr>
          <p:cNvSpPr txBox="1"/>
          <p:nvPr/>
        </p:nvSpPr>
        <p:spPr>
          <a:xfrm>
            <a:off x="2286000" y="1809373"/>
            <a:ext cx="13716000" cy="7755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Feature Encoding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Some data values are categorical and need conversion.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Label encoding assigns numbers to categories.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One-hot encoding creates binary columns.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This helps the neural network understand the data.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2800" dirty="0">
              <a:latin typeface="Merriweather" panose="00000500000000000000" pitchFamily="2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Data Normalization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Features may have different ranges.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Large values can affect learning negatively.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Min–Max scaling brings values between 0 and 1.Standardization scales data around mean.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This improves model performance and training speed.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2800" dirty="0">
              <a:latin typeface="Merriweather" panose="00000500000000000000" pitchFamily="2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Train–Test Split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Data is divided into three parts.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Training set is used to train the model.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Validation set is used to compare models.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Testing set is used for final evaluation.</a:t>
            </a:r>
            <a:endParaRPr lang="en-IN" sz="280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0AAB656F-73D6-C022-AA90-3E67CD3A4A90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72EE9D3D-5843-0C5B-BE6B-187B3CC4A952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6740249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9EC04-F662-A92A-1B56-714D45FBB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245CC228-77DC-4EA3-31C9-3A078F4A1246}"/>
              </a:ext>
            </a:extLst>
          </p:cNvPr>
          <p:cNvSpPr txBox="1"/>
          <p:nvPr/>
        </p:nvSpPr>
        <p:spPr>
          <a:xfrm>
            <a:off x="3429000" y="29077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D134294-0BBC-9271-64E2-AC7BCE84064E}"/>
              </a:ext>
            </a:extLst>
          </p:cNvPr>
          <p:cNvSpPr txBox="1"/>
          <p:nvPr/>
        </p:nvSpPr>
        <p:spPr>
          <a:xfrm>
            <a:off x="2286000" y="1809373"/>
            <a:ext cx="13716000" cy="6894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Merriweather" panose="00000500000000000000" pitchFamily="2" charset="0"/>
              </a:rPr>
              <a:t>3.Neural Architecture Search (NAS)</a:t>
            </a:r>
          </a:p>
          <a:p>
            <a:endParaRPr lang="en-US" sz="2800" b="1" dirty="0">
              <a:latin typeface="Merriweather" panose="00000500000000000000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NAS automatically finds the best neural network design.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It removes the need for manual model design.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It has three main components.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2800" i="1" dirty="0">
              <a:latin typeface="Merriweather" panose="00000500000000000000" pitchFamily="2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Search Space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Search space includes all possible model designs.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It defines different combinations of parameters.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Parameters include: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Merriweather" panose="00000500000000000000" pitchFamily="2" charset="0"/>
              </a:rPr>
              <a:t>Number of hidden layers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Merriweather" panose="00000500000000000000" pitchFamily="2" charset="0"/>
              </a:rPr>
              <a:t>Number of neurons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Merriweather" panose="00000500000000000000" pitchFamily="2" charset="0"/>
              </a:rPr>
              <a:t>Activation functions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Merriweather" panose="00000500000000000000" pitchFamily="2" charset="0"/>
              </a:rPr>
              <a:t>Dropout layers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Merriweather" panose="00000500000000000000" pitchFamily="2" charset="0"/>
              </a:rPr>
              <a:t>Optimizer type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Merriweather" panose="00000500000000000000" pitchFamily="2" charset="0"/>
              </a:rPr>
              <a:t>Learning Rate</a:t>
            </a:r>
            <a:endParaRPr lang="en-IN" sz="280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5F16FE47-01B9-D7DE-09B7-614503FBEF83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4C0C4D00-5638-5DE7-D64C-6264C2139B61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2179096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108AE-E80A-A799-6E05-DC0EC47DE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C4CA3F33-D165-F02D-488B-F95F8893C8B5}"/>
              </a:ext>
            </a:extLst>
          </p:cNvPr>
          <p:cNvSpPr txBox="1"/>
          <p:nvPr/>
        </p:nvSpPr>
        <p:spPr>
          <a:xfrm>
            <a:off x="3429000" y="29077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9E57627-4787-7FD0-E00B-F236D84DACFD}"/>
              </a:ext>
            </a:extLst>
          </p:cNvPr>
          <p:cNvSpPr txBox="1"/>
          <p:nvPr/>
        </p:nvSpPr>
        <p:spPr>
          <a:xfrm>
            <a:off x="2286000" y="2019300"/>
            <a:ext cx="13716000" cy="6032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 Search Strategy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Search strategy decides how models are generated.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It explores different architectures.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Methods include: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Merriweather" panose="00000500000000000000" pitchFamily="2" charset="0"/>
              </a:rPr>
              <a:t>Random search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Merriweather" panose="00000500000000000000" pitchFamily="2" charset="0"/>
              </a:rPr>
              <a:t>Evolutionary algorithms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Merriweather" panose="00000500000000000000" pitchFamily="2" charset="0"/>
              </a:rPr>
              <a:t>Reinforcement learning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Merriweather" panose="00000500000000000000" pitchFamily="2" charset="0"/>
              </a:rPr>
              <a:t>Gradient-based methods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2800" i="1" dirty="0">
              <a:latin typeface="Merriweather" panose="00000500000000000000" pitchFamily="2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Candidate Model Generation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Multiple models are created automatically.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Each model has a different structure.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All models are trained using training data.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Models are evaluated using validation data.</a:t>
            </a:r>
            <a:endParaRPr lang="en-IN" sz="280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60ED4F7-8BED-9641-9EFB-68A4AA3A01E9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42F9DB3C-1320-7411-C5A5-681A526976B9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1094670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E8AAD-D35E-1407-14CA-1300D1DB9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6E41B525-3D2C-9D1F-8B9C-8919FF58A6BD}"/>
              </a:ext>
            </a:extLst>
          </p:cNvPr>
          <p:cNvSpPr txBox="1"/>
          <p:nvPr/>
        </p:nvSpPr>
        <p:spPr>
          <a:xfrm>
            <a:off x="3429000" y="29077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EC52FFE-FDFF-0DFF-DF1C-4359F9DB5DE9}"/>
              </a:ext>
            </a:extLst>
          </p:cNvPr>
          <p:cNvSpPr txBox="1"/>
          <p:nvPr/>
        </p:nvSpPr>
        <p:spPr>
          <a:xfrm>
            <a:off x="2606041" y="2342733"/>
            <a:ext cx="13716000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Merriweather" panose="00000500000000000000" pitchFamily="2" charset="0"/>
              </a:rPr>
              <a:t>4. Model Training and Evaluation</a:t>
            </a:r>
          </a:p>
          <a:p>
            <a:endParaRPr lang="en-US" sz="2800" b="1" dirty="0">
              <a:latin typeface="Merriweather" panose="00000500000000000000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Each generated model is trained on the dataset.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model learns by adjusting weights using backpropagation.</a:t>
            </a:r>
          </a:p>
          <a:p>
            <a:endParaRPr lang="en-US" sz="2800" dirty="0">
              <a:latin typeface="Merriweather" panose="00000500000000000000" pitchFamily="2" charset="0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Training settings include: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Loss function is binary cross-entropy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Optimizer can be Adam or SGD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Activation functions include </a:t>
            </a:r>
            <a:r>
              <a:rPr lang="en-US" sz="2800" dirty="0" err="1">
                <a:latin typeface="Merriweather" panose="00000500000000000000" pitchFamily="2" charset="0"/>
              </a:rPr>
              <a:t>ReLU</a:t>
            </a:r>
            <a:r>
              <a:rPr lang="en-US" sz="2800" dirty="0">
                <a:latin typeface="Merriweather" panose="00000500000000000000" pitchFamily="2" charset="0"/>
              </a:rPr>
              <a:t>, Sigmoid, and Tanh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Training runs for multiple epochs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After training, models are evaluated.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Performance is measured using accuracy, precision, recall, and F1-score.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Results are stored for comparison</a:t>
            </a:r>
            <a:r>
              <a:rPr lang="en-US" sz="2800" i="1" dirty="0">
                <a:latin typeface="Merriweather" panose="00000500000000000000" pitchFamily="2" charset="0"/>
              </a:rPr>
              <a:t>.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endParaRPr lang="en-US" sz="2800" i="1" dirty="0">
              <a:latin typeface="Merriweather" panose="00000500000000000000" pitchFamily="2" charset="0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D6DA77E1-B846-9F36-0E5B-C93BBB31AA09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AAD12727-20DC-8642-522D-E164295E6770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5123953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B23B2-7EBF-3306-F6C0-92A4F8859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A261E60A-2383-9CCB-C6A1-8B7386413DA1}"/>
              </a:ext>
            </a:extLst>
          </p:cNvPr>
          <p:cNvSpPr txBox="1"/>
          <p:nvPr/>
        </p:nvSpPr>
        <p:spPr>
          <a:xfrm>
            <a:off x="3429000" y="29077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A796F09-6C73-2570-87C4-0BD73609BCCD}"/>
              </a:ext>
            </a:extLst>
          </p:cNvPr>
          <p:cNvSpPr txBox="1"/>
          <p:nvPr/>
        </p:nvSpPr>
        <p:spPr>
          <a:xfrm>
            <a:off x="2606041" y="2342733"/>
            <a:ext cx="13716000" cy="5170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Merriweather" panose="00000500000000000000" pitchFamily="2" charset="0"/>
              </a:rPr>
              <a:t>5. Model Selection</a:t>
            </a:r>
          </a:p>
          <a:p>
            <a:endParaRPr lang="en-US" sz="2800" b="1" dirty="0">
              <a:latin typeface="Merriweather" panose="00000500000000000000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best model is selected after evaluation.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Selection is based on performance metrics.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>
              <a:latin typeface="Merriweather" panose="00000500000000000000" pitchFamily="2" charset="0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i="1" dirty="0">
                <a:latin typeface="Merriweather" panose="00000500000000000000" pitchFamily="2" charset="0"/>
              </a:rPr>
              <a:t>Criteria include: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Highest validation accuracy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Lowest loss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Best F1-score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This model is considered the optimal architecture.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It is used for future predictions.</a:t>
            </a:r>
            <a:endParaRPr lang="en-IN" sz="2800" dirty="0">
              <a:latin typeface="Merriweather" panose="00000500000000000000" pitchFamily="2" charset="0"/>
            </a:endParaRPr>
          </a:p>
          <a:p>
            <a:pPr marL="1371600" lvl="2" indent="-457200">
              <a:buFont typeface="Wingdings" panose="05000000000000000000" pitchFamily="2" charset="2"/>
              <a:buChar char="§"/>
            </a:pPr>
            <a:endParaRPr lang="en-US" sz="2800" i="1" dirty="0">
              <a:latin typeface="Merriweather" panose="00000500000000000000" pitchFamily="2" charset="0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6D97D0E8-559C-D5CF-4C4D-D9CCC8C07936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25585F36-BDB8-48CB-BDF0-4516412D1349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341514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D1DD3-A284-55AC-B5C6-21A5AF16A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784D2775-0833-884D-549E-FDEFF0F103B9}"/>
              </a:ext>
            </a:extLst>
          </p:cNvPr>
          <p:cNvSpPr txBox="1"/>
          <p:nvPr/>
        </p:nvSpPr>
        <p:spPr>
          <a:xfrm>
            <a:off x="3429000" y="29077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8F28D2F-7C32-FA05-7503-0B781A84DD95}"/>
              </a:ext>
            </a:extLst>
          </p:cNvPr>
          <p:cNvSpPr txBox="1"/>
          <p:nvPr/>
        </p:nvSpPr>
        <p:spPr>
          <a:xfrm>
            <a:off x="2606041" y="2342733"/>
            <a:ext cx="13716000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Merriweather" panose="00000500000000000000" pitchFamily="2" charset="0"/>
              </a:rPr>
              <a:t>6. System Interface</a:t>
            </a:r>
          </a:p>
          <a:p>
            <a:endParaRPr lang="en-US" sz="2800" b="1" dirty="0">
              <a:latin typeface="Merriweather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system provides a simple user interface.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Users can upload datasets.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Users can start architecture search.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Models are trained automatically.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Results are displayed clearly.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Users can make predictions easily.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No deep technical knowledge is required.</a:t>
            </a: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F619EEE4-C34A-AAAB-6209-DA6AD5C347BE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A36C9CDA-8BB3-424E-2028-486253EAACEC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42799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50A90-0954-CE7D-AC4B-89B0B6731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58C34F27-30A6-DBF2-7BAA-88837A31BBCC}"/>
              </a:ext>
            </a:extLst>
          </p:cNvPr>
          <p:cNvSpPr txBox="1"/>
          <p:nvPr/>
        </p:nvSpPr>
        <p:spPr>
          <a:xfrm>
            <a:off x="3429000" y="29077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METHODOLOGY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55D68D0-A52E-2E77-08B2-D77EF4BBDDD4}"/>
              </a:ext>
            </a:extLst>
          </p:cNvPr>
          <p:cNvSpPr txBox="1"/>
          <p:nvPr/>
        </p:nvSpPr>
        <p:spPr>
          <a:xfrm>
            <a:off x="2606041" y="2342733"/>
            <a:ext cx="13716000" cy="6032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Merriweather" panose="00000500000000000000" pitchFamily="2" charset="0"/>
              </a:rPr>
              <a:t>7. Prediction Process</a:t>
            </a:r>
          </a:p>
          <a:p>
            <a:endParaRPr lang="en-US" sz="2800" b="1" dirty="0">
              <a:latin typeface="Merriweather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rriweather" panose="00000500000000000000" pitchFamily="2" charset="0"/>
              </a:rPr>
              <a:t>The final model is used to predict new cases.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Merriweather" panose="00000500000000000000" pitchFamily="2" charset="0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Merriweather" panose="00000500000000000000" pitchFamily="2" charset="0"/>
              </a:rPr>
              <a:t>Steps include: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User enters patient data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Data is preprocessed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Trained model is applied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Prediction is generated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Merriweather" panose="00000500000000000000" pitchFamily="2" charset="0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>
                <a:latin typeface="Merriweather" panose="00000500000000000000" pitchFamily="2" charset="0"/>
              </a:rPr>
              <a:t>Output: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Shows whether disease is present or not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Provides probability value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Merriweather" panose="00000500000000000000" pitchFamily="2" charset="0"/>
              </a:rPr>
              <a:t>This helps in early detection of heart disease</a:t>
            </a: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5F9AD6BB-2E5A-6AC8-CB54-B0B3F232157E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39A61DA5-A054-87B4-CD02-34D78F1318DC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2241793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E0383-C77D-5D47-EAEF-2E2A371D2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C3AF88B6-0F55-278B-9AB0-0AE130276667}"/>
              </a:ext>
            </a:extLst>
          </p:cNvPr>
          <p:cNvSpPr txBox="1"/>
          <p:nvPr/>
        </p:nvSpPr>
        <p:spPr>
          <a:xfrm>
            <a:off x="3429000" y="290770"/>
            <a:ext cx="1038360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TECHNOLOGY USED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24E85B8-FDE9-6F32-16E3-2EEBD2EC2937}"/>
              </a:ext>
            </a:extLst>
          </p:cNvPr>
          <p:cNvSpPr txBox="1"/>
          <p:nvPr/>
        </p:nvSpPr>
        <p:spPr>
          <a:xfrm>
            <a:off x="1676400" y="2095500"/>
            <a:ext cx="16002000" cy="9587240"/>
          </a:xfrm>
          <a:prstGeom prst="rect">
            <a:avLst/>
          </a:prstGeom>
        </p:spPr>
        <p:txBody>
          <a:bodyPr wrap="square" lIns="0" tIns="0" rIns="0" bIns="0" numCol="2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SOFTWARE REQUIREMENTS:</a:t>
            </a: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                                                                                                                               </a:t>
            </a:r>
          </a:p>
          <a:p>
            <a:pPr marL="514350" marR="0" lvl="0" indent="-51435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Programming &amp; Development</a:t>
            </a:r>
          </a:p>
          <a:p>
            <a:pPr marL="457200" marR="0" lvl="0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Python – Core programming language         </a:t>
            </a:r>
          </a:p>
          <a:p>
            <a:pPr marL="457200" marR="0" lvl="0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TensorFlow /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Keras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 – Deep learning framework</a:t>
            </a:r>
          </a:p>
          <a:p>
            <a:pPr marL="457200" marR="0" lvl="0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Evolutionary Algorithm – Architecture optimization    </a:t>
            </a:r>
          </a:p>
          <a:p>
            <a:pPr marL="457200" marR="0" lvl="0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353534"/>
              </a:solidFill>
              <a:effectLst/>
              <a:uLnTx/>
              <a:uFillTx/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2. Web Development</a:t>
            </a:r>
          </a:p>
          <a:p>
            <a:pPr marL="457200" marR="0" lvl="0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Flask – Backend web framework</a:t>
            </a:r>
          </a:p>
          <a:p>
            <a:pPr marL="457200" marR="0" lvl="0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HTML, CSS, JavaScript – Frontend interface</a:t>
            </a:r>
          </a:p>
          <a:p>
            <a:pPr marL="457200" marR="0" lvl="0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Server-Sent Events (SSE) – Real-time updates</a:t>
            </a:r>
          </a:p>
          <a:p>
            <a:pPr marL="457200" marR="0" lvl="0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353534"/>
              </a:solidFill>
              <a:effectLst/>
              <a:uLnTx/>
              <a:uFillTx/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353534"/>
              </a:solidFill>
              <a:effectLst/>
              <a:uLnTx/>
              <a:uFillTx/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353534"/>
              </a:solidFill>
              <a:effectLst/>
              <a:uLnTx/>
              <a:uFillTx/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353534"/>
              </a:solidFill>
              <a:effectLst/>
              <a:uLnTx/>
              <a:uFillTx/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3. Dataset &amp; Processing</a:t>
            </a:r>
          </a:p>
          <a:p>
            <a:pPr marL="800100" marR="0" lvl="1" indent="-3429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Heart Disease Dataset (CSV format)</a:t>
            </a:r>
          </a:p>
          <a:p>
            <a:pPr marL="800100" marR="0" lvl="1" indent="-3429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NumPy, Pandas – Data handling</a:t>
            </a:r>
          </a:p>
          <a:p>
            <a:pPr marL="800100" marR="0" lvl="1" indent="-3429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Scikit-learn – Preprocessing &amp; train-test split</a:t>
            </a:r>
          </a:p>
          <a:p>
            <a:pPr marL="457200" marR="0" lvl="0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353534"/>
              </a:solidFill>
              <a:effectLst/>
              <a:uLnTx/>
              <a:uFillTx/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       HARDWARE REQUIREMENTS:</a:t>
            </a:r>
          </a:p>
          <a:p>
            <a:pPr marL="0" marR="0" lvl="0" indent="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353534"/>
              </a:solidFill>
              <a:effectLst/>
              <a:uLnTx/>
              <a:uFillTx/>
              <a:latin typeface="Merriweather"/>
              <a:ea typeface="Merriweather"/>
              <a:cs typeface="Merriweather"/>
              <a:sym typeface="Merriweather"/>
            </a:endParaRPr>
          </a:p>
          <a:p>
            <a:pPr marL="914400" marR="0" lvl="1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Processor: i3 or higher</a:t>
            </a:r>
          </a:p>
          <a:p>
            <a:pPr marL="914400" marR="0" lvl="1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RAM: Minimum 8 GB</a:t>
            </a:r>
          </a:p>
          <a:p>
            <a:pPr marL="914400" marR="0" lvl="1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Storage: At least 512 MB free space</a:t>
            </a:r>
          </a:p>
          <a:p>
            <a:pPr marL="914400" marR="0" lvl="1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GPU: Optional (for faster training)</a:t>
            </a:r>
          </a:p>
          <a:p>
            <a:pPr marL="914400" marR="0" lvl="1" indent="-457200" algn="l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53534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Display: 1366×768 resolution or higher</a:t>
            </a:r>
          </a:p>
          <a:p>
            <a:pPr lvl="1"/>
            <a:endParaRPr lang="en-US" sz="2800" dirty="0">
              <a:latin typeface="Merriweather" panose="00000500000000000000" pitchFamily="2" charset="0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CB87856D-8F68-9CFB-F86B-00C08803897A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41B457E6-B648-13AD-6214-DAA10515D12C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9659710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907A-10B3-BFD2-EB1F-A0CDBAEA5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966A2BB8-2F17-5C25-C4B5-A3EF2434FE34}"/>
              </a:ext>
            </a:extLst>
          </p:cNvPr>
          <p:cNvSpPr txBox="1"/>
          <p:nvPr/>
        </p:nvSpPr>
        <p:spPr>
          <a:xfrm>
            <a:off x="3571197" y="97822"/>
            <a:ext cx="10383605" cy="1487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 panose="00000500000000000000"/>
              </a:rPr>
              <a:t>IMPLEMENTATION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FD4EA92-47C2-B5FD-6F09-E082A8AED754}"/>
              </a:ext>
            </a:extLst>
          </p:cNvPr>
          <p:cNvSpPr txBox="1"/>
          <p:nvPr/>
        </p:nvSpPr>
        <p:spPr>
          <a:xfrm>
            <a:off x="1828800" y="1584960"/>
            <a:ext cx="15773400" cy="8815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sz="2800" b="1" dirty="0">
                <a:latin typeface="Merriweather" panose="00000500000000000000"/>
              </a:rPr>
              <a:t>1. Project Setup &amp; Technology Stack</a:t>
            </a:r>
          </a:p>
          <a:p>
            <a:pPr marL="0" indent="0">
              <a:lnSpc>
                <a:spcPct val="150000"/>
              </a:lnSpc>
            </a:pPr>
            <a:endParaRPr lang="en-US" sz="2400" b="0" dirty="0">
              <a:latin typeface="Merriweather" panose="00000500000000000000"/>
            </a:endParaRP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The system is built in Python using Flask as the web backend.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TensorFlow and Keras are used to build and train neural network models.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scikit-learn handles all preprocessing: scaling, encoding, and imputation.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The frontend uses Bootstrap 5 and Chart.js for a live training dashboard.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Trained models are saved as .keras files; the pipeline is saved with Joblib.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app.py handles routing; nas_engine.py runs NAS; data_pipeline.py preps data.</a:t>
            </a:r>
          </a:p>
          <a:p>
            <a:pPr marL="0" indent="0">
              <a:lnSpc>
                <a:spcPct val="150000"/>
              </a:lnSpc>
            </a:pPr>
            <a:endParaRPr lang="en-US" sz="2400" b="0" dirty="0">
              <a:latin typeface="Merriweather" panose="00000500000000000000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93681C33-F2AF-2A73-E7D0-986CB1659E98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907A-10B3-BFD2-EB1F-A0CDBAEA5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966A2BB8-2F17-5C25-C4B5-A3EF2434FE34}"/>
              </a:ext>
            </a:extLst>
          </p:cNvPr>
          <p:cNvSpPr txBox="1"/>
          <p:nvPr/>
        </p:nvSpPr>
        <p:spPr>
          <a:xfrm>
            <a:off x="3429000" y="613750"/>
            <a:ext cx="10383605" cy="1487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 panose="00000500000000000000"/>
              </a:rPr>
              <a:t>IMPLEMENTATION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FD4EA92-47C2-B5FD-6F09-E082A8AED754}"/>
              </a:ext>
            </a:extLst>
          </p:cNvPr>
          <p:cNvSpPr txBox="1"/>
          <p:nvPr/>
        </p:nvSpPr>
        <p:spPr>
          <a:xfrm>
            <a:off x="2286000" y="2637503"/>
            <a:ext cx="13716000" cy="7568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sz="2800" b="1" dirty="0">
                <a:latin typeface="Merriweather" panose="00000500000000000000"/>
              </a:rPr>
              <a:t>2. Data Preprocessing</a:t>
            </a:r>
          </a:p>
          <a:p>
            <a:pPr marL="0" indent="0">
              <a:lnSpc>
                <a:spcPct val="150000"/>
              </a:lnSpc>
            </a:pPr>
            <a:endParaRPr lang="en-US" sz="2400" b="0" dirty="0">
              <a:latin typeface="Merriweather" panose="00000500000000000000"/>
            </a:endParaRP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The user uploads a CSV or Excel file via the web UI.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The last column is automatically selected as the prediction target.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The system detects classification vs regression from the number of unique values.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Missing values are filled with median (numeric) or mode (categorical).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Numeric features are normalized with StandardScaler for stable training.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Data is split into train 60% / validation 20% / test 20% sets.</a:t>
            </a:r>
          </a:p>
          <a:p>
            <a:pPr marL="0" indent="0">
              <a:lnSpc>
                <a:spcPct val="150000"/>
              </a:lnSpc>
            </a:pPr>
            <a:endParaRPr lang="en-US" sz="2400" b="0" dirty="0">
              <a:latin typeface="Merriweather" panose="00000500000000000000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93681C33-F2AF-2A73-E7D0-986CB1659E98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D646B5A0-E827-8A83-DC5D-05226A407DCD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907A-10B3-BFD2-EB1F-A0CDBAEA5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966A2BB8-2F17-5C25-C4B5-A3EF2434FE34}"/>
              </a:ext>
            </a:extLst>
          </p:cNvPr>
          <p:cNvSpPr txBox="1"/>
          <p:nvPr/>
        </p:nvSpPr>
        <p:spPr>
          <a:xfrm>
            <a:off x="3429000" y="613750"/>
            <a:ext cx="10383605" cy="1487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 panose="00000500000000000000"/>
              </a:rPr>
              <a:t>IMPLEMENTATION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FD4EA92-47C2-B5FD-6F09-E082A8AED754}"/>
              </a:ext>
            </a:extLst>
          </p:cNvPr>
          <p:cNvSpPr txBox="1"/>
          <p:nvPr/>
        </p:nvSpPr>
        <p:spPr>
          <a:xfrm>
            <a:off x="2286000" y="2637503"/>
            <a:ext cx="13716000" cy="4739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sz="2800" b="1" dirty="0">
                <a:latin typeface="Merriweather" panose="00000500000000000000"/>
              </a:rPr>
              <a:t>3. NAS Search Space</a:t>
            </a:r>
          </a:p>
          <a:p>
            <a:pPr marL="0" indent="0">
              <a:lnSpc>
                <a:spcPct val="150000"/>
              </a:lnSpc>
            </a:pPr>
            <a:endParaRPr lang="en-US" sz="2400" b="0" dirty="0">
              <a:latin typeface="Merriweather" panose="00000500000000000000"/>
            </a:endParaRP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The system searches over fully connected (Dense) neural network architectures.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Each candidate has between 1 and 4 hidden layers.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Neurons per layer are sampled from the set: 16, 32, 64, or 128.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Activation functions (ReLU or Tanh) are randomly assigned per layer.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Output layer uses Softmax for classification or Linear for regression.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Architectures exceeding 1 million parameters are automatically skipped.</a:t>
            </a:r>
          </a:p>
          <a:p>
            <a:pPr marL="0" indent="0">
              <a:lnSpc>
                <a:spcPct val="150000"/>
              </a:lnSpc>
            </a:pPr>
            <a:endParaRPr lang="en-US" sz="2400" b="0" dirty="0">
              <a:latin typeface="Merriweather" panose="00000500000000000000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93681C33-F2AF-2A73-E7D0-986CB1659E98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D646B5A0-E827-8A83-DC5D-05226A407DCD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907A-10B3-BFD2-EB1F-A0CDBAEA5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966A2BB8-2F17-5C25-C4B5-A3EF2434FE34}"/>
              </a:ext>
            </a:extLst>
          </p:cNvPr>
          <p:cNvSpPr txBox="1"/>
          <p:nvPr/>
        </p:nvSpPr>
        <p:spPr>
          <a:xfrm>
            <a:off x="3429000" y="613750"/>
            <a:ext cx="10383605" cy="1487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 panose="00000500000000000000"/>
              </a:rPr>
              <a:t>IMPLEMENTATION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FD4EA92-47C2-B5FD-6F09-E082A8AED754}"/>
              </a:ext>
            </a:extLst>
          </p:cNvPr>
          <p:cNvSpPr txBox="1"/>
          <p:nvPr/>
        </p:nvSpPr>
        <p:spPr>
          <a:xfrm>
            <a:off x="2819400" y="2247900"/>
            <a:ext cx="13716000" cy="80305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sz="2800" b="1" dirty="0">
                <a:latin typeface="Merriweather" panose="00000500000000000000"/>
              </a:rPr>
              <a:t>4. NAS Search Strategies</a:t>
            </a:r>
          </a:p>
          <a:p>
            <a:pPr marL="0" indent="0">
              <a:lnSpc>
                <a:spcPct val="150000"/>
              </a:lnSpc>
            </a:pPr>
            <a:endParaRPr lang="en-US" sz="2400" b="0" dirty="0">
              <a:latin typeface="Merriweather" panose="00000500000000000000"/>
            </a:endParaRP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Random Search trains N independent randomly generated architectures.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Evolutionary Search runs a genetic algorithm over 2-3 generations.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In each generation, the bottom 50% of architectures are removed.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Surviving architectures are mutated: add layer, remove layer, or change units.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Progressive Search grows from 1 layer, adding depth only when accuracy improves.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The best model is selected automatically by highest validation performance.</a:t>
            </a:r>
          </a:p>
          <a:p>
            <a:pPr marL="0" indent="0">
              <a:lnSpc>
                <a:spcPct val="150000"/>
              </a:lnSpc>
            </a:pPr>
            <a:endParaRPr lang="en-US" sz="2400" b="0" dirty="0">
              <a:latin typeface="Merriweather" panose="00000500000000000000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93681C33-F2AF-2A73-E7D0-986CB1659E98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D646B5A0-E827-8A83-DC5D-05226A407DCD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907A-10B3-BFD2-EB1F-A0CDBAEA5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966A2BB8-2F17-5C25-C4B5-A3EF2434FE34}"/>
              </a:ext>
            </a:extLst>
          </p:cNvPr>
          <p:cNvSpPr txBox="1"/>
          <p:nvPr/>
        </p:nvSpPr>
        <p:spPr>
          <a:xfrm>
            <a:off x="3429000" y="613750"/>
            <a:ext cx="10383605" cy="1487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 panose="00000500000000000000"/>
              </a:rPr>
              <a:t>IMPLEMENTATION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FD4EA92-47C2-B5FD-6F09-E082A8AED754}"/>
              </a:ext>
            </a:extLst>
          </p:cNvPr>
          <p:cNvSpPr txBox="1"/>
          <p:nvPr/>
        </p:nvSpPr>
        <p:spPr>
          <a:xfrm>
            <a:off x="2609851" y="2119938"/>
            <a:ext cx="13716000" cy="84921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sz="2800" b="1" dirty="0">
                <a:latin typeface="Merriweather" panose="00000500000000000000"/>
              </a:rPr>
              <a:t>5. Flask Web Application</a:t>
            </a:r>
          </a:p>
          <a:p>
            <a:pPr marL="0" indent="0">
              <a:lnSpc>
                <a:spcPct val="150000"/>
              </a:lnSpc>
            </a:pPr>
            <a:endParaRPr lang="en-US" sz="2400" b="0" dirty="0">
              <a:latin typeface="Merriweather" panose="00000500000000000000"/>
            </a:endParaRP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GET / serves the training UI; POST /upload starts the NAS run.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Training runs in a background thread to keep the app responsive.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GET /stream pushes live training events to the browser via SSE.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POST /predict preprocesses user input and runs inference on the best model.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GET /download_best lets the user save the best .keras model file.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A 409 error is returned if a NAS run is already in progress.</a:t>
            </a:r>
          </a:p>
          <a:p>
            <a:pPr marL="0" indent="0">
              <a:lnSpc>
                <a:spcPct val="150000"/>
              </a:lnSpc>
            </a:pPr>
            <a:endParaRPr lang="en-US" sz="2400" b="0" dirty="0">
              <a:latin typeface="Merriweather" panose="00000500000000000000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93681C33-F2AF-2A73-E7D0-986CB1659E98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D646B5A0-E827-8A83-DC5D-05226A407DCD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907A-10B3-BFD2-EB1F-A0CDBAEA5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966A2BB8-2F17-5C25-C4B5-A3EF2434FE34}"/>
              </a:ext>
            </a:extLst>
          </p:cNvPr>
          <p:cNvSpPr txBox="1"/>
          <p:nvPr/>
        </p:nvSpPr>
        <p:spPr>
          <a:xfrm>
            <a:off x="3429000" y="613750"/>
            <a:ext cx="10383605" cy="1487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 panose="00000500000000000000"/>
              </a:rPr>
              <a:t>IMPLEMENTATION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FD4EA92-47C2-B5FD-6F09-E082A8AED754}"/>
              </a:ext>
            </a:extLst>
          </p:cNvPr>
          <p:cNvSpPr txBox="1"/>
          <p:nvPr/>
        </p:nvSpPr>
        <p:spPr>
          <a:xfrm>
            <a:off x="2438400" y="2400300"/>
            <a:ext cx="13716000" cy="4739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sz="2800" b="1" dirty="0">
                <a:latin typeface="Merriweather" panose="00000500000000000000"/>
              </a:rPr>
              <a:t>6. Real-Time Training Visualization</a:t>
            </a:r>
          </a:p>
          <a:p>
            <a:pPr marL="0" indent="0">
              <a:lnSpc>
                <a:spcPct val="150000"/>
              </a:lnSpc>
            </a:pPr>
            <a:endParaRPr lang="en-US" sz="2400" b="0" dirty="0">
              <a:latin typeface="Merriweather" panose="00000500000000000000"/>
            </a:endParaRP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A custom StreamCallback sends Keras training events to an SSE queue.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Events include per-batch loss, weight norms, epoch results, and run status.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A thread-safe queue connects the training thread to the /stream endpoint.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The browser receives events and updates Chart.js graphs without refreshing.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Per-layer kernel weight norms are visualized as bar charts per candidate.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A done event is sent with the best model summary when training finishes.</a:t>
            </a:r>
          </a:p>
          <a:p>
            <a:pPr marL="0" indent="0">
              <a:lnSpc>
                <a:spcPct val="150000"/>
              </a:lnSpc>
            </a:pPr>
            <a:endParaRPr lang="en-US" sz="2400" b="0" dirty="0">
              <a:latin typeface="Merriweather" panose="00000500000000000000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93681C33-F2AF-2A73-E7D0-986CB1659E98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D646B5A0-E827-8A83-DC5D-05226A407DCD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907A-10B3-BFD2-EB1F-A0CDBAEA5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966A2BB8-2F17-5C25-C4B5-A3EF2434FE34}"/>
              </a:ext>
            </a:extLst>
          </p:cNvPr>
          <p:cNvSpPr txBox="1"/>
          <p:nvPr/>
        </p:nvSpPr>
        <p:spPr>
          <a:xfrm>
            <a:off x="3429000" y="613750"/>
            <a:ext cx="10383605" cy="1487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 panose="00000500000000000000"/>
              </a:rPr>
              <a:t>IMPLEMENTATION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FD4EA92-47C2-B5FD-6F09-E082A8AED754}"/>
              </a:ext>
            </a:extLst>
          </p:cNvPr>
          <p:cNvSpPr txBox="1"/>
          <p:nvPr/>
        </p:nvSpPr>
        <p:spPr>
          <a:xfrm>
            <a:off x="3062286" y="1943100"/>
            <a:ext cx="13716000" cy="7568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n-US" sz="2800" b="1" dirty="0">
                <a:latin typeface="Merriweather" panose="00000500000000000000"/>
              </a:rPr>
              <a:t>7. Model Selection &amp; Prediction</a:t>
            </a:r>
          </a:p>
          <a:p>
            <a:pPr marL="0" indent="0">
              <a:lnSpc>
                <a:spcPct val="150000"/>
              </a:lnSpc>
            </a:pPr>
            <a:endParaRPr lang="en-US" sz="2400" b="0" dirty="0">
              <a:latin typeface="Merriweather" panose="00000500000000000000"/>
            </a:endParaRP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All candidates are evaluated on a held-out test set after training.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The best model is selected by highest validation accuracy (or lowest MSE).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The best .keras model and sklearn pipeline are saved to the uploads folder.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A training_report.json is exported with full results for all candidates.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The prediction form is dynamically generated from the dataset feature schema.</a:t>
            </a:r>
          </a:p>
          <a:p>
            <a:pPr marL="0" indent="0">
              <a:lnSpc>
                <a:spcPct val="150000"/>
              </a:lnSpc>
            </a:pPr>
            <a:r>
              <a:rPr lang="en-US" sz="2400" b="0" dirty="0">
                <a:latin typeface="Merriweather" panose="00000500000000000000"/>
              </a:rPr>
              <a:t>•   The best model is cached in memory to avoid repeated disk reads.</a:t>
            </a:r>
          </a:p>
          <a:p>
            <a:pPr marL="0" indent="0">
              <a:lnSpc>
                <a:spcPct val="150000"/>
              </a:lnSpc>
            </a:pPr>
            <a:endParaRPr lang="en-US" sz="2400" b="0" dirty="0">
              <a:latin typeface="Merriweather" panose="00000500000000000000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93681C33-F2AF-2A73-E7D0-986CB1659E98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D646B5A0-E827-8A83-DC5D-05226A407DCD}"/>
              </a:ext>
            </a:extLst>
          </p:cNvPr>
          <p:cNvSpPr/>
          <p:nvPr/>
        </p:nvSpPr>
        <p:spPr>
          <a:xfrm rot="10800000">
            <a:off x="457200" y="7611717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72507-703E-BA63-6A5C-2C2E842CD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2381170-21D1-EEC0-23B7-A543B3DC20C4}"/>
              </a:ext>
            </a:extLst>
          </p:cNvPr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A27CEDF-41B6-D1D9-0CC1-F5B875111DF4}"/>
              </a:ext>
            </a:extLst>
          </p:cNvPr>
          <p:cNvSpPr/>
          <p:nvPr/>
        </p:nvSpPr>
        <p:spPr>
          <a:xfrm rot="-5400000">
            <a:off x="-1294784" y="7594275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3A90453-1EE6-6CFC-019F-7043E59E5236}"/>
              </a:ext>
            </a:extLst>
          </p:cNvPr>
          <p:cNvSpPr txBox="1"/>
          <p:nvPr/>
        </p:nvSpPr>
        <p:spPr>
          <a:xfrm>
            <a:off x="3733800" y="626253"/>
            <a:ext cx="11850444" cy="1183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endParaRPr lang="en-US" sz="7200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>
              <a:lnSpc>
                <a:spcPts val="42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INTERIM RESULTS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61A2107-8868-209B-0A53-2BD81B948DC9}"/>
              </a:ext>
            </a:extLst>
          </p:cNvPr>
          <p:cNvSpPr txBox="1"/>
          <p:nvPr/>
        </p:nvSpPr>
        <p:spPr>
          <a:xfrm>
            <a:off x="2971800" y="2651760"/>
            <a:ext cx="11850444" cy="276999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r>
              <a:rPr lang="en-US" dirty="0"/>
              <a:t> </a:t>
            </a:r>
            <a:endParaRPr lang="en-IN" dirty="0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8C2783B-589F-C822-1118-6E04E6D07917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5E8CD-7F88-D851-59D5-529F1818BD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8400" y="2095500"/>
            <a:ext cx="12231444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8635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54590-2A3B-4482-ECB5-1C4089127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BE041A8-C4BB-C5C4-C6F0-CDF39CDC49A4}"/>
              </a:ext>
            </a:extLst>
          </p:cNvPr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513611F-99B5-C61B-D721-1510114140E7}"/>
              </a:ext>
            </a:extLst>
          </p:cNvPr>
          <p:cNvSpPr/>
          <p:nvPr/>
        </p:nvSpPr>
        <p:spPr>
          <a:xfrm rot="-5400000">
            <a:off x="-1294784" y="7594275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D8B29FB-6C6F-1B67-FC36-F647004B4AB2}"/>
              </a:ext>
            </a:extLst>
          </p:cNvPr>
          <p:cNvSpPr txBox="1"/>
          <p:nvPr/>
        </p:nvSpPr>
        <p:spPr>
          <a:xfrm>
            <a:off x="3733800" y="626253"/>
            <a:ext cx="11850444" cy="1183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endParaRPr lang="en-US" sz="7200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>
              <a:lnSpc>
                <a:spcPts val="42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INTERIM RESULTS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8DE5E32-EED2-C19C-3A53-F90CC8E10CFD}"/>
              </a:ext>
            </a:extLst>
          </p:cNvPr>
          <p:cNvSpPr txBox="1"/>
          <p:nvPr/>
        </p:nvSpPr>
        <p:spPr>
          <a:xfrm>
            <a:off x="2971800" y="2651760"/>
            <a:ext cx="11850444" cy="276999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r>
              <a:rPr lang="en-US" dirty="0"/>
              <a:t> </a:t>
            </a:r>
            <a:endParaRPr lang="en-IN" dirty="0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6A9581B1-0407-A0FB-9F74-7F8797B648FA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51E52A-55FD-E59D-B8C6-2CE9CEA647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6560" y="2247900"/>
            <a:ext cx="11850443" cy="670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397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B0839-FA00-2D67-4EE4-045AFAE54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B94206DD-59C1-8B77-4124-207C13B38DD7}"/>
              </a:ext>
            </a:extLst>
          </p:cNvPr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EC8EB77-4495-762A-239C-E08EABA8C300}"/>
              </a:ext>
            </a:extLst>
          </p:cNvPr>
          <p:cNvSpPr/>
          <p:nvPr/>
        </p:nvSpPr>
        <p:spPr>
          <a:xfrm rot="-5400000">
            <a:off x="-1294784" y="7594275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466FB1C-4BFA-9750-A5E5-A7A728A09067}"/>
              </a:ext>
            </a:extLst>
          </p:cNvPr>
          <p:cNvSpPr txBox="1"/>
          <p:nvPr/>
        </p:nvSpPr>
        <p:spPr>
          <a:xfrm>
            <a:off x="3733800" y="626253"/>
            <a:ext cx="11850444" cy="1183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endParaRPr lang="en-US" sz="7200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>
              <a:lnSpc>
                <a:spcPts val="42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INTERIM RESULTS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B761E9A-5B6F-0BA0-D09C-0CBC6F541F4A}"/>
              </a:ext>
            </a:extLst>
          </p:cNvPr>
          <p:cNvSpPr txBox="1"/>
          <p:nvPr/>
        </p:nvSpPr>
        <p:spPr>
          <a:xfrm>
            <a:off x="2971800" y="2651760"/>
            <a:ext cx="11850444" cy="276999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r>
              <a:rPr lang="en-US" dirty="0"/>
              <a:t> </a:t>
            </a:r>
            <a:endParaRPr lang="en-IN" dirty="0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B41F370F-9D25-C0B1-D013-4106E3ABD9B0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9F9E8A-3F9E-3359-A694-F9A8E13FD2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194" y="2400300"/>
            <a:ext cx="12612444" cy="678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7072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FC439-D01C-1570-1757-4A5D0360F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81D40B44-CB17-F0B1-B71F-0F441A7E0E65}"/>
              </a:ext>
            </a:extLst>
          </p:cNvPr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C419C9D-FC30-6713-42D1-0873FCF97198}"/>
              </a:ext>
            </a:extLst>
          </p:cNvPr>
          <p:cNvSpPr/>
          <p:nvPr/>
        </p:nvSpPr>
        <p:spPr>
          <a:xfrm rot="-5400000">
            <a:off x="-1294784" y="7594275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CDD716-3DD2-F9F2-225D-D7DBEFF07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7500" y="2054300"/>
            <a:ext cx="8232700" cy="82327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AC263555-E7C3-CD3F-498C-4318824DFF93}"/>
              </a:ext>
            </a:extLst>
          </p:cNvPr>
          <p:cNvSpPr txBox="1"/>
          <p:nvPr/>
        </p:nvSpPr>
        <p:spPr>
          <a:xfrm>
            <a:off x="4076683" y="1409700"/>
            <a:ext cx="11850444" cy="644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TIMELINE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879B281-F8E3-AE6F-2026-1AFC82A5921D}"/>
              </a:ext>
            </a:extLst>
          </p:cNvPr>
          <p:cNvSpPr txBox="1"/>
          <p:nvPr/>
        </p:nvSpPr>
        <p:spPr>
          <a:xfrm>
            <a:off x="2971800" y="2651760"/>
            <a:ext cx="11850444" cy="276999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r>
              <a:rPr lang="en-US" dirty="0"/>
              <a:t> </a:t>
            </a:r>
            <a:endParaRPr lang="en-IN" dirty="0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7E6F64F-9740-BC4A-C08B-7E2115C903CA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2588117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94F49-9EC1-0B5A-531D-E7C643762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4F1B7E3A-B7C6-286C-AE88-0728F48BBB09}"/>
              </a:ext>
            </a:extLst>
          </p:cNvPr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9AD1F10-B142-1C18-1AB3-29B51D390A0E}"/>
              </a:ext>
            </a:extLst>
          </p:cNvPr>
          <p:cNvSpPr/>
          <p:nvPr/>
        </p:nvSpPr>
        <p:spPr>
          <a:xfrm rot="-5400000">
            <a:off x="-1294784" y="7594275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1D31219-1BD8-9F0F-702F-1E6A5DFDA836}"/>
              </a:ext>
            </a:extLst>
          </p:cNvPr>
          <p:cNvSpPr txBox="1"/>
          <p:nvPr/>
        </p:nvSpPr>
        <p:spPr>
          <a:xfrm>
            <a:off x="4913555" y="1092905"/>
            <a:ext cx="11850444" cy="1183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endParaRPr lang="en-US" sz="7200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>
              <a:lnSpc>
                <a:spcPts val="42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C7B0ECD-A6E0-9EBB-2943-E0F6CA3A11AD}"/>
              </a:ext>
            </a:extLst>
          </p:cNvPr>
          <p:cNvSpPr txBox="1"/>
          <p:nvPr/>
        </p:nvSpPr>
        <p:spPr>
          <a:xfrm>
            <a:off x="1600200" y="2581697"/>
            <a:ext cx="14401800" cy="6740307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marL="342900" indent="-3429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Heart disease is one of the leading causes of death worldwide, making early detection essential.</a:t>
            </a:r>
          </a:p>
          <a:p>
            <a:pPr marL="342900" indent="-3429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Manual diagnosis based only on clinical observation can sometimes be complex and time-consuming.</a:t>
            </a:r>
          </a:p>
          <a:p>
            <a:pPr marL="342900" indent="-3429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This project presents an AI-based heart disease prediction system using an Evolutionary Neural Architecture Search (NAS) approach.</a:t>
            </a:r>
          </a:p>
          <a:p>
            <a:pPr marL="342900" indent="-3429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The proposed system automatically finds the best-performing neural network architecture for improved prediction accuracy.</a:t>
            </a:r>
          </a:p>
          <a:p>
            <a:pPr marL="342900" indent="-3429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The system is efficient, scalable, and user-friendly, making it suitable for real-world healthcare applications.</a:t>
            </a:r>
          </a:p>
          <a:p>
            <a:pPr marL="342900" indent="-3429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It supports early diagnosis, assists medical professionals, and contributes to improved patient outcomes.</a:t>
            </a:r>
          </a:p>
          <a:p>
            <a:r>
              <a:rPr lang="en-US" dirty="0"/>
              <a:t> </a:t>
            </a:r>
            <a:endParaRPr lang="en-IN" dirty="0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28B5E895-B723-7DB0-B02B-63F1A0CA5395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1356198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A2335-0694-5C80-6AA1-798BD609D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2DA4F7D-A776-E9C8-95A2-D20D1883E20A}"/>
              </a:ext>
            </a:extLst>
          </p:cNvPr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E2C85D6-B66B-A541-77F9-FC24132AA839}"/>
              </a:ext>
            </a:extLst>
          </p:cNvPr>
          <p:cNvSpPr/>
          <p:nvPr/>
        </p:nvSpPr>
        <p:spPr>
          <a:xfrm rot="-5400000">
            <a:off x="-1294784" y="7594275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2F94C88-1E07-6108-6F91-75C88EA91C8A}"/>
              </a:ext>
            </a:extLst>
          </p:cNvPr>
          <p:cNvSpPr txBox="1"/>
          <p:nvPr/>
        </p:nvSpPr>
        <p:spPr>
          <a:xfrm>
            <a:off x="5294555" y="401751"/>
            <a:ext cx="11850444" cy="1183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endParaRPr lang="en-US" sz="7200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>
              <a:lnSpc>
                <a:spcPts val="42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REFERENCES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0A2EE34-58E3-3E1D-F75E-038A223A2C15}"/>
              </a:ext>
            </a:extLst>
          </p:cNvPr>
          <p:cNvSpPr txBox="1"/>
          <p:nvPr/>
        </p:nvSpPr>
        <p:spPr>
          <a:xfrm>
            <a:off x="1295400" y="1866900"/>
            <a:ext cx="16154399" cy="7486088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marL="457200" indent="-457200">
              <a:lnSpc>
                <a:spcPts val="4200"/>
              </a:lnSpc>
              <a:buAutoNum type="arabicPeriod"/>
            </a:pPr>
            <a:r>
              <a:rPr lang="en-US" sz="2300" dirty="0">
                <a:latin typeface="Merriweather" panose="00000500000000000000" pitchFamily="2" charset="0"/>
              </a:rPr>
              <a:t>Efficient Neural Architecture Search via Parameter Sharing H. Pham, M. Guan, B. </a:t>
            </a:r>
            <a:r>
              <a:rPr lang="en-US" sz="2300" dirty="0" err="1">
                <a:latin typeface="Merriweather" panose="00000500000000000000" pitchFamily="2" charset="0"/>
              </a:rPr>
              <a:t>Zoph</a:t>
            </a:r>
            <a:r>
              <a:rPr lang="en-US" sz="2300" dirty="0">
                <a:latin typeface="Merriweather" panose="00000500000000000000" pitchFamily="2" charset="0"/>
              </a:rPr>
              <a:t>, Q. Le, and J. Dean, “Efficient Neural Architecture Search via Parameter Sharing,” Proc. ICML, 2018.</a:t>
            </a:r>
          </a:p>
          <a:p>
            <a:pPr marL="457200" indent="-457200">
              <a:lnSpc>
                <a:spcPts val="4200"/>
              </a:lnSpc>
              <a:buAutoNum type="arabicPeriod"/>
            </a:pPr>
            <a:r>
              <a:rPr lang="en-US" sz="2300" dirty="0">
                <a:latin typeface="Merriweather" panose="00000500000000000000" pitchFamily="2" charset="0"/>
              </a:rPr>
              <a:t>Auto-</a:t>
            </a:r>
            <a:r>
              <a:rPr lang="en-US" sz="2300" dirty="0" err="1">
                <a:latin typeface="Merriweather" panose="00000500000000000000" pitchFamily="2" charset="0"/>
              </a:rPr>
              <a:t>Keras</a:t>
            </a:r>
            <a:r>
              <a:rPr lang="en-US" sz="2300" dirty="0">
                <a:latin typeface="Merriweather" panose="00000500000000000000" pitchFamily="2" charset="0"/>
              </a:rPr>
              <a:t>: An Efficient Neural Architecture Search System H. Jin, Q. Song, and X. Hu, “Auto-</a:t>
            </a:r>
            <a:r>
              <a:rPr lang="en-US" sz="2300" dirty="0" err="1">
                <a:latin typeface="Merriweather" panose="00000500000000000000" pitchFamily="2" charset="0"/>
              </a:rPr>
              <a:t>Keras</a:t>
            </a:r>
            <a:r>
              <a:rPr lang="en-US" sz="2300" dirty="0">
                <a:latin typeface="Merriweather" panose="00000500000000000000" pitchFamily="2" charset="0"/>
              </a:rPr>
              <a:t>: An Efficient Neural Architecture Search System,” Proc. KDD, 2019.</a:t>
            </a:r>
          </a:p>
          <a:p>
            <a:pPr marL="457200" indent="-457200">
              <a:lnSpc>
                <a:spcPts val="4200"/>
              </a:lnSpc>
              <a:buAutoNum type="arabicPeriod"/>
            </a:pPr>
            <a:r>
              <a:rPr lang="en-US" sz="2300" dirty="0" err="1">
                <a:latin typeface="Merriweather" panose="00000500000000000000" pitchFamily="2" charset="0"/>
              </a:rPr>
              <a:t>AutoML</a:t>
            </a:r>
            <a:r>
              <a:rPr lang="en-US" sz="2300" dirty="0">
                <a:latin typeface="Merriweather" panose="00000500000000000000" pitchFamily="2" charset="0"/>
              </a:rPr>
              <a:t>: A Survey of the State-of-the-</a:t>
            </a:r>
            <a:r>
              <a:rPr lang="en-US" sz="2300" dirty="0" err="1">
                <a:latin typeface="Merriweather" panose="00000500000000000000" pitchFamily="2" charset="0"/>
              </a:rPr>
              <a:t>ArtX</a:t>
            </a:r>
            <a:r>
              <a:rPr lang="en-US" sz="2300" dirty="0">
                <a:latin typeface="Merriweather" panose="00000500000000000000" pitchFamily="2" charset="0"/>
              </a:rPr>
              <a:t>. He, K. Zhao, and X. Chu, “</a:t>
            </a:r>
            <a:r>
              <a:rPr lang="en-US" sz="2300" dirty="0" err="1">
                <a:latin typeface="Merriweather" panose="00000500000000000000" pitchFamily="2" charset="0"/>
              </a:rPr>
              <a:t>AutoML</a:t>
            </a:r>
            <a:r>
              <a:rPr lang="en-US" sz="2300" dirty="0">
                <a:latin typeface="Merriweather" panose="00000500000000000000" pitchFamily="2" charset="0"/>
              </a:rPr>
              <a:t>: A Survey of the State-of-the-Art,” Knowledge-Based Systems, 2021.</a:t>
            </a:r>
          </a:p>
          <a:p>
            <a:pPr marL="457200" indent="-457200">
              <a:lnSpc>
                <a:spcPts val="4200"/>
              </a:lnSpc>
              <a:buAutoNum type="arabicPeriod"/>
            </a:pPr>
            <a:r>
              <a:rPr lang="en-US" sz="2300" dirty="0">
                <a:latin typeface="Merriweather" panose="00000500000000000000" pitchFamily="2" charset="0"/>
              </a:rPr>
              <a:t>Hybrid Machine Learning Approach for Accurate Heart Disease Prediction S. Ahmed and A. Husien, “Hybrid Machine Learning Approach for Accurate Heart Disease Prediction,” 2024.</a:t>
            </a:r>
          </a:p>
          <a:p>
            <a:pPr marL="457200" indent="-457200">
              <a:lnSpc>
                <a:spcPts val="4200"/>
              </a:lnSpc>
              <a:buAutoNum type="arabicPeriod"/>
            </a:pPr>
            <a:r>
              <a:rPr lang="en-US" sz="2300" dirty="0">
                <a:latin typeface="Merriweather" panose="00000500000000000000" pitchFamily="2" charset="0"/>
              </a:rPr>
              <a:t>Comparative Study of Machine Learning Algorithms for Heart Disease Prediction Rupika et al., “Comparative Study of Machine Learning Algorithms for Heart Disease Prediction,” 2025. </a:t>
            </a:r>
          </a:p>
          <a:p>
            <a:pPr marL="457200" indent="-457200">
              <a:lnSpc>
                <a:spcPts val="4200"/>
              </a:lnSpc>
              <a:buAutoNum type="arabicPeriod"/>
            </a:pPr>
            <a:r>
              <a:rPr lang="en-US" sz="2300" dirty="0">
                <a:latin typeface="Merriweather" panose="00000500000000000000" pitchFamily="2" charset="0"/>
              </a:rPr>
              <a:t>A Survey on Machine Learning Techniques in Health Care </a:t>
            </a:r>
            <a:r>
              <a:rPr lang="en-US" sz="2300" dirty="0" err="1">
                <a:latin typeface="Merriweather" panose="00000500000000000000" pitchFamily="2" charset="0"/>
              </a:rPr>
              <a:t>IndustryG</a:t>
            </a:r>
            <a:r>
              <a:rPr lang="en-US" sz="2300" dirty="0">
                <a:latin typeface="Merriweather" panose="00000500000000000000" pitchFamily="2" charset="0"/>
              </a:rPr>
              <a:t>. Kumar et al., “A Survey on Machine Learning Techniques in Health Care Industry,” 2016.</a:t>
            </a:r>
          </a:p>
          <a:p>
            <a:pPr marL="457200" indent="-457200">
              <a:lnSpc>
                <a:spcPts val="4200"/>
              </a:lnSpc>
              <a:buAutoNum type="arabicPeriod"/>
            </a:pPr>
            <a:r>
              <a:rPr lang="en-US" sz="2300" dirty="0">
                <a:latin typeface="Merriweather" panose="00000500000000000000" pitchFamily="2" charset="0"/>
              </a:rPr>
              <a:t>Heart Disease Prediction Using Data Mining </a:t>
            </a:r>
            <a:r>
              <a:rPr lang="en-US" sz="2300" dirty="0" err="1">
                <a:latin typeface="Merriweather" panose="00000500000000000000" pitchFamily="2" charset="0"/>
              </a:rPr>
              <a:t>TechniquesH</a:t>
            </a:r>
            <a:r>
              <a:rPr lang="en-US" sz="2300" dirty="0">
                <a:latin typeface="Merriweather" panose="00000500000000000000" pitchFamily="2" charset="0"/>
              </a:rPr>
              <a:t>. B. F. David and S. Antony Bell, “Heart Disease Prediction Using Data Mining Techniques,” 2018.</a:t>
            </a:r>
            <a:endParaRPr lang="en-US" sz="2300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C1485286-EF82-842F-1C7B-8C84F9D1744D}"/>
              </a:ext>
            </a:extLst>
          </p:cNvPr>
          <p:cNvSpPr/>
          <p:nvPr/>
        </p:nvSpPr>
        <p:spPr>
          <a:xfrm>
            <a:off x="15697199" y="495300"/>
            <a:ext cx="2133601" cy="2133600"/>
          </a:xfrm>
          <a:custGeom>
            <a:avLst/>
            <a:gdLst/>
            <a:ahLst/>
            <a:cxnLst/>
            <a:rect l="l" t="t" r="r" b="b"/>
            <a:pathLst>
              <a:path w="2726522" h="2696778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737180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28DCB-EF43-1697-3EF6-DC163C5E6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52E6309-97D5-40E9-F34B-EC24E316212F}"/>
              </a:ext>
            </a:extLst>
          </p:cNvPr>
          <p:cNvSpPr/>
          <p:nvPr/>
        </p:nvSpPr>
        <p:spPr>
          <a:xfrm>
            <a:off x="495705" y="9364617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49C8DA5-9954-C833-658B-60E7E1EDDB1D}"/>
              </a:ext>
            </a:extLst>
          </p:cNvPr>
          <p:cNvSpPr/>
          <p:nvPr/>
        </p:nvSpPr>
        <p:spPr>
          <a:xfrm rot="-5400000">
            <a:off x="-1294784" y="7594275"/>
            <a:ext cx="3580978" cy="296130"/>
          </a:xfrm>
          <a:custGeom>
            <a:avLst/>
            <a:gdLst/>
            <a:ahLst/>
            <a:cxnLst/>
            <a:rect l="l" t="t" r="r" b="b"/>
            <a:pathLst>
              <a:path w="3580978" h="296130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0007C77-E0B9-1FE7-29FA-5F5444C9D173}"/>
              </a:ext>
            </a:extLst>
          </p:cNvPr>
          <p:cNvSpPr txBox="1"/>
          <p:nvPr/>
        </p:nvSpPr>
        <p:spPr>
          <a:xfrm>
            <a:off x="5257800" y="464574"/>
            <a:ext cx="11850444" cy="1183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endParaRPr lang="en-US" sz="7200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>
              <a:lnSpc>
                <a:spcPts val="4200"/>
              </a:lnSpc>
            </a:pPr>
            <a:r>
              <a:rPr lang="en-US" sz="7200" b="1" dirty="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REFERENCES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A7A4610-F2FC-E64F-3FA3-B92D26EAD541}"/>
              </a:ext>
            </a:extLst>
          </p:cNvPr>
          <p:cNvSpPr txBox="1"/>
          <p:nvPr/>
        </p:nvSpPr>
        <p:spPr>
          <a:xfrm>
            <a:off x="990600" y="1222249"/>
            <a:ext cx="16687800" cy="8020016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marL="342900" indent="-34290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indent="-457200">
              <a:lnSpc>
                <a:spcPts val="4200"/>
              </a:lnSpc>
              <a:buAutoNum type="arabicPeriod" startAt="8"/>
            </a:pPr>
            <a:r>
              <a:rPr lang="en-US" sz="2260" dirty="0">
                <a:latin typeface="Merriweather" panose="00000500000000000000" pitchFamily="2" charset="0"/>
              </a:rPr>
              <a:t>International Application of a New Probability Algorithm for CAD Diagnosis R. Detrano et al., “International Application of a New Probability Algorithm for the Diagnosis of Coronary Artery Disease,” Am. J. Cardiology, 1989.</a:t>
            </a:r>
          </a:p>
          <a:p>
            <a:pPr marL="457200" indent="-457200">
              <a:lnSpc>
                <a:spcPts val="4200"/>
              </a:lnSpc>
              <a:buAutoNum type="arabicPeriod" startAt="8"/>
            </a:pPr>
            <a:r>
              <a:rPr lang="en-US" sz="2260" dirty="0">
                <a:latin typeface="Merriweather" panose="00000500000000000000" pitchFamily="2" charset="0"/>
              </a:rPr>
              <a:t> Neural Architecture Search using Attention Enhanced Evaluation Y. Li et al., “Neural Architecture Search using Attention Enhanced Precise Path Evaluation and Efficient Forward Evolution,” 2025.</a:t>
            </a:r>
          </a:p>
          <a:p>
            <a:pPr marL="457200" indent="-457200">
              <a:lnSpc>
                <a:spcPts val="4200"/>
              </a:lnSpc>
              <a:buAutoNum type="arabicPeriod" startAt="8"/>
            </a:pPr>
            <a:r>
              <a:rPr lang="en-US" sz="2260" dirty="0">
                <a:latin typeface="Merriweather" panose="00000500000000000000" pitchFamily="2" charset="0"/>
              </a:rPr>
              <a:t> Neural Architecture Search: A Contemporary Literature Review for Computer Vision M. Poyser and T. Breckon, “Neural Architecture Search: A Contemporary Literature Review for Computer Vision Applications,” 2023.</a:t>
            </a:r>
          </a:p>
          <a:p>
            <a:pPr marL="457200" indent="-457200">
              <a:lnSpc>
                <a:spcPts val="4200"/>
              </a:lnSpc>
              <a:buAutoNum type="arabicPeriod" startAt="8"/>
            </a:pPr>
            <a:r>
              <a:rPr lang="en-US" sz="2260" dirty="0">
                <a:latin typeface="Merriweather" panose="00000500000000000000" pitchFamily="2" charset="0"/>
              </a:rPr>
              <a:t>Neural Architecture Search: A </a:t>
            </a:r>
            <a:r>
              <a:rPr lang="en-US" sz="2260" dirty="0" err="1">
                <a:latin typeface="Merriweather" panose="00000500000000000000" pitchFamily="2" charset="0"/>
              </a:rPr>
              <a:t>SurveyT</a:t>
            </a:r>
            <a:r>
              <a:rPr lang="en-US" sz="2260" dirty="0">
                <a:latin typeface="Merriweather" panose="00000500000000000000" pitchFamily="2" charset="0"/>
              </a:rPr>
              <a:t>. Elsken, J. H. Metzen, and F. Hutter, “Neural Architecture Search: A Survey,” JMLR, 2019.</a:t>
            </a:r>
          </a:p>
          <a:p>
            <a:pPr marL="457200" indent="-457200">
              <a:lnSpc>
                <a:spcPts val="4200"/>
              </a:lnSpc>
              <a:buAutoNum type="arabicPeriod" startAt="8"/>
            </a:pPr>
            <a:r>
              <a:rPr lang="en-US" sz="2260" dirty="0">
                <a:latin typeface="Merriweather" panose="00000500000000000000" pitchFamily="2" charset="0"/>
              </a:rPr>
              <a:t>Neural Architecture Search with Reinforcement Learning B. </a:t>
            </a:r>
            <a:r>
              <a:rPr lang="en-US" sz="2260" dirty="0" err="1">
                <a:latin typeface="Merriweather" panose="00000500000000000000" pitchFamily="2" charset="0"/>
              </a:rPr>
              <a:t>Zoph</a:t>
            </a:r>
            <a:r>
              <a:rPr lang="en-US" sz="2260" dirty="0">
                <a:latin typeface="Merriweather" panose="00000500000000000000" pitchFamily="2" charset="0"/>
              </a:rPr>
              <a:t> and Q. V. Le, “Neural Architecture Search with Reinforcement Learning,” ICLR, 2017.</a:t>
            </a:r>
          </a:p>
          <a:p>
            <a:pPr marL="457200" indent="-457200">
              <a:lnSpc>
                <a:spcPts val="4200"/>
              </a:lnSpc>
              <a:buAutoNum type="arabicPeriod" startAt="8"/>
            </a:pPr>
            <a:r>
              <a:rPr lang="en-US" sz="2260" dirty="0">
                <a:latin typeface="Merriweather" panose="00000500000000000000" pitchFamily="2" charset="0"/>
              </a:rPr>
              <a:t>Cardiologist-Level Arrhythmia Detection with CNNP. </a:t>
            </a:r>
            <a:r>
              <a:rPr lang="en-US" sz="2260" dirty="0" err="1">
                <a:latin typeface="Merriweather" panose="00000500000000000000" pitchFamily="2" charset="0"/>
              </a:rPr>
              <a:t>Rajpurkar</a:t>
            </a:r>
            <a:r>
              <a:rPr lang="en-US" sz="2260" dirty="0">
                <a:latin typeface="Merriweather" panose="00000500000000000000" pitchFamily="2" charset="0"/>
              </a:rPr>
              <a:t> et al., “Cardiologist-Level Arrhythmia Detection with Convolutional Neural Networks,” Nature Medicine, 2017.</a:t>
            </a:r>
          </a:p>
          <a:p>
            <a:pPr marL="457200" indent="-457200">
              <a:lnSpc>
                <a:spcPts val="4200"/>
              </a:lnSpc>
              <a:buAutoNum type="arabicPeriod" startAt="8"/>
            </a:pPr>
            <a:r>
              <a:rPr lang="en-US" sz="2260" dirty="0">
                <a:latin typeface="Merriweather" panose="00000500000000000000" pitchFamily="2" charset="0"/>
              </a:rPr>
              <a:t>Neural Architecture Search Concepts and Advances Compilation T. Elsken et al., “Neural Architecture Search: Concepts, Advances, and Applications,” Springer, 2019.</a:t>
            </a:r>
            <a:endParaRPr lang="en-US" sz="2260" dirty="0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  <p:extLst>
      <p:ext uri="{BB962C8B-B14F-4D97-AF65-F5344CB8AC3E}">
        <p14:creationId xmlns:p14="http://schemas.microsoft.com/office/powerpoint/2010/main" val="4544748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1664294" y="2906886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9284" y="536638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5269321" y="7123585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12925742" y="9493834"/>
            <a:ext cx="4740498" cy="392017"/>
          </a:xfrm>
          <a:custGeom>
            <a:avLst/>
            <a:gdLst/>
            <a:ahLst/>
            <a:cxnLst/>
            <a:rect l="l" t="t" r="r" b="b"/>
            <a:pathLst>
              <a:path w="4740498" h="392017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44934" y="732646"/>
            <a:ext cx="2767824" cy="2737630"/>
          </a:xfrm>
          <a:custGeom>
            <a:avLst/>
            <a:gdLst/>
            <a:ahLst/>
            <a:cxnLst/>
            <a:rect l="l" t="t" r="r" b="b"/>
            <a:pathLst>
              <a:path w="2767824" h="2737630">
                <a:moveTo>
                  <a:pt x="0" y="0"/>
                </a:moveTo>
                <a:lnTo>
                  <a:pt x="2767824" y="0"/>
                </a:lnTo>
                <a:lnTo>
                  <a:pt x="2767824" y="2737630"/>
                </a:lnTo>
                <a:lnTo>
                  <a:pt x="0" y="27376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644447" y="7027759"/>
            <a:ext cx="2753631" cy="2723591"/>
          </a:xfrm>
          <a:custGeom>
            <a:avLst/>
            <a:gdLst/>
            <a:ahLst/>
            <a:cxnLst/>
            <a:rect l="l" t="t" r="r" b="b"/>
            <a:pathLst>
              <a:path w="2753631" h="2723591">
                <a:moveTo>
                  <a:pt x="0" y="0"/>
                </a:moveTo>
                <a:lnTo>
                  <a:pt x="2753630" y="0"/>
                </a:lnTo>
                <a:lnTo>
                  <a:pt x="2753630" y="2723591"/>
                </a:lnTo>
                <a:lnTo>
                  <a:pt x="0" y="2723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132093" y="3260726"/>
            <a:ext cx="12023813" cy="1882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0"/>
              </a:lnSpc>
              <a:spcBef>
                <a:spcPct val="0"/>
              </a:spcBef>
            </a:pPr>
            <a:r>
              <a:rPr lang="en-US" sz="11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6310</TotalTime>
  <Words>4751</Words>
  <Application>Microsoft Office PowerPoint</Application>
  <PresentationFormat>Custom</PresentationFormat>
  <Paragraphs>715</Paragraphs>
  <Slides>50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Courier New</vt:lpstr>
      <vt:lpstr>Wingdings</vt:lpstr>
      <vt:lpstr>Abril Fatface</vt:lpstr>
      <vt:lpstr>Calibri</vt:lpstr>
      <vt:lpstr>Arial</vt:lpstr>
      <vt:lpstr>Merriweather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and Beige Minimalist Professional Presentation</dc:title>
  <cp:lastModifiedBy>Sanjai Satheesh</cp:lastModifiedBy>
  <cp:revision>33</cp:revision>
  <dcterms:created xsi:type="dcterms:W3CDTF">2006-08-16T00:00:00Z</dcterms:created>
  <dcterms:modified xsi:type="dcterms:W3CDTF">2026-03-30T15:25:37Z</dcterms:modified>
  <dc:identifier>DAHBLNe4Yho</dc:identifier>
</cp:coreProperties>
</file>